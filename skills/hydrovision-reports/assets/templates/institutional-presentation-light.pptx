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78" r:id="rId10"/>
    <p:sldId id="279" r:id="rId11"/>
    <p:sldId id="280" r:id="rId12"/>
    <p:sldId id="281" r:id="rId13"/>
    <p:sldId id="282" r:id="rId14"/>
    <p:sldId id="283" r:id="rId15"/>
    <p:sldId id="284" r:id="rId16"/>
    <p:sldId id="285" r:id="rId9"/>
    <p:sldId id="286" r:id="rId18"/>
    <p:sldId id="287" r:id="rId8"/>
    <p:sldId id="288" r:id="rId7"/>
    <p:sldId id="289" r:id="rId6"/>
    <p:sldId id="290" r:id="rId5"/>
    <p:sldId id="291" r:id="rId4"/>
    <p:sldId id="292" r:id="rId24"/>
    <p:sldId id="277" r:id="rId17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17.xml"/><Relationship Id="rId5" Type="http://schemas.openxmlformats.org/officeDocument/2006/relationships/slide" Target="slides/slide16.xml"/><Relationship Id="rId6" Type="http://schemas.openxmlformats.org/officeDocument/2006/relationships/slide" Target="slides/slide15.xml"/><Relationship Id="rId7" Type="http://schemas.openxmlformats.org/officeDocument/2006/relationships/slide" Target="slides/slide14.xml"/><Relationship Id="rId8" Type="http://schemas.openxmlformats.org/officeDocument/2006/relationships/slide" Target="slides/slide13.xml"/><Relationship Id="rId9" Type="http://schemas.openxmlformats.org/officeDocument/2006/relationships/slide" Target="slides/slide1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3.xml"/><Relationship Id="rId18" Type="http://schemas.openxmlformats.org/officeDocument/2006/relationships/slide" Target="slides/slide12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Relationship Id="rId24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pt-BR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pt-BR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pt-BR"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image" Target="../media/HF_CLARO-topo.jpeg"/><Relationship Id="rId2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image" Target="../media/HF_CLARO-topo.jpeg"/><Relationship Id="rId3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Relationship Id="rId3" Type="http://schemas.openxmlformats.org/officeDocument/2006/relationships/image" Target="../media/HF_CLARO-topo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F_CAPA_CLARO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F_CLARO_GRI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199632"/>
            <a:ext cx="12191695" cy="0"/>
          </a:xfrm>
          <a:prstGeom prst="line">
            <a:avLst/>
          </a:prstGeom>
          <a:noFill/>
          <a:ln w="12700">
            <a:solidFill>
              <a:srgbClr val="28282D">
                <a:alpha val="45000"/>
              </a:srgbClr>
            </a:solidFill>
            <a:prstDash val="solid"/>
          </a:ln>
        </p:spPr>
      </p:sp>
      <p:pic>
        <p:nvPicPr>
          <p:cNvPr id="3" name="Image 0" descr="logos/logotipo_colorid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168" y="6336792"/>
            <a:ext cx="283464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778240" y="649224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pt-BR" sz="800" dirty="0">
                <a:solidFill>
                  <a:srgbClr val="28282D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hydroforce.com.br</a:t>
            </a:r>
            <a:endParaRPr lang="pt-BR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07040" y="6254496"/>
            <a:ext cx="13716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28282D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1" lang="pt-BR"/>
              <a:t>1003</a:t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F_CLAR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199632"/>
            <a:ext cx="12191695" cy="0"/>
          </a:xfrm>
          <a:prstGeom prst="line">
            <a:avLst/>
          </a:prstGeom>
          <a:noFill/>
          <a:ln w="12700">
            <a:solidFill>
              <a:srgbClr val="28282D">
                <a:alpha val="45000"/>
              </a:srgbClr>
            </a:solidFill>
            <a:prstDash val="solid"/>
          </a:ln>
        </p:spPr>
      </p:sp>
      <p:pic>
        <p:nvPicPr>
          <p:cNvPr id="3" name="Image 0" descr="logos/logotipo_colorid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168" y="6336792"/>
            <a:ext cx="283464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778240" y="649224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pt-BR" sz="800" dirty="0">
                <a:solidFill>
                  <a:srgbClr val="28282D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hydroforce.com.br</a:t>
            </a:r>
            <a:endParaRPr lang="pt-BR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07040" y="6254496"/>
            <a:ext cx="13716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28282D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1" lang="pt-BR"/>
              <a:t>1004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F_CLARO_TOPO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199632"/>
            <a:ext cx="12191695" cy="0"/>
          </a:xfrm>
          <a:prstGeom prst="line">
            <a:avLst/>
          </a:prstGeom>
          <a:noFill/>
          <a:ln w="12700">
            <a:solidFill>
              <a:srgbClr val="28282D">
                <a:alpha val="45000"/>
              </a:srgbClr>
            </a:solidFill>
            <a:prstDash val="solid"/>
          </a:ln>
        </p:spPr>
      </p:sp>
      <p:pic>
        <p:nvPicPr>
          <p:cNvPr id="3" name="Image 0" descr="logos/logotipo_colorid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168" y="6336792"/>
            <a:ext cx="283464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778240" y="649224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pt-BR" sz="800" dirty="0">
                <a:solidFill>
                  <a:srgbClr val="28282D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hydroforce.com.br</a:t>
            </a:r>
            <a:endParaRPr lang="pt-BR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07040" y="6254496"/>
            <a:ext cx="13716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28282D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1" lang="pt-BR"/>
              <a:t>1005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07040" y="6254496"/>
            <a:ext cx="13716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28282D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1" lang="pt-BR"/>
              <a:t>null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5.png"/><Relationship Id="rId16" Type="http://schemas.openxmlformats.org/officeDocument/2006/relationships/image" Target="../media/image-1-16.png"/><Relationship Id="rId17" Type="http://schemas.openxmlformats.org/officeDocument/2006/relationships/image" Target="../media/image-1-17.png"/><Relationship Id="rId18" Type="http://schemas.openxmlformats.org/officeDocument/2006/relationships/image" Target="../media/image-1-18.png"/><Relationship Id="rId19" Type="http://schemas.openxmlformats.org/officeDocument/2006/relationships/image" Target="../media/image-1-19.png"/><Relationship Id="rId20" Type="http://schemas.openxmlformats.org/officeDocument/2006/relationships/image" Target="../media/image-1-20.png"/><Relationship Id="rId21" Type="http://schemas.openxmlformats.org/officeDocument/2006/relationships/image" Target="../media/image-1-21.png"/><Relationship Id="rId22" Type="http://schemas.openxmlformats.org/officeDocument/2006/relationships/image" Target="../media/image-1-22.png"/><Relationship Id="rId23" Type="http://schemas.openxmlformats.org/officeDocument/2006/relationships/image" Target="../media/image-1-23.png"/><Relationship Id="rId24" Type="http://schemas.openxmlformats.org/officeDocument/2006/relationships/image" Target="../media/image-1-24.png"/><Relationship Id="rId25" Type="http://schemas.openxmlformats.org/officeDocument/2006/relationships/image" Target="../media/image-1-25.png"/><Relationship Id="rId26" Type="http://schemas.openxmlformats.org/officeDocument/2006/relationships/image" Target="../media/image-1-26.png"/><Relationship Id="rId27" Type="http://schemas.openxmlformats.org/officeDocument/2006/relationships/image" Target="../media/image-1-27.png"/><Relationship Id="rId28" Type="http://schemas.openxmlformats.org/officeDocument/2006/relationships/image" Target="../media/image-1-28.png"/><Relationship Id="rId29" Type="http://schemas.openxmlformats.org/officeDocument/2006/relationships/image" Target="../media/image-1-29.png"/><Relationship Id="rId30" Type="http://schemas.openxmlformats.org/officeDocument/2006/relationships/image" Target="../media/image-1-30.png"/><Relationship Id="rId31" Type="http://schemas.openxmlformats.org/officeDocument/2006/relationships/image" Target="../media/image-1-31.png"/><Relationship Id="rId32" Type="http://schemas.openxmlformats.org/officeDocument/2006/relationships/image" Target="../media/image-1-32.png"/><Relationship Id="rId33" Type="http://schemas.openxmlformats.org/officeDocument/2006/relationships/image" Target="../media/image-1-33.png"/><Relationship Id="rId34" Type="http://schemas.openxmlformats.org/officeDocument/2006/relationships/image" Target="../media/image-1-34.png"/><Relationship Id="rId35" Type="http://schemas.openxmlformats.org/officeDocument/2006/relationships/image" Target="../media/image-1-35.png"/><Relationship Id="rId36" Type="http://schemas.openxmlformats.org/officeDocument/2006/relationships/image" Target="../media/image-1-36.png"/><Relationship Id="rId37" Type="http://schemas.openxmlformats.org/officeDocument/2006/relationships/image" Target="../media/image-1-37.png"/><Relationship Id="rId38" Type="http://schemas.openxmlformats.org/officeDocument/2006/relationships/image" Target="../media/image-1-38.png"/><Relationship Id="rId39" Type="http://schemas.openxmlformats.org/officeDocument/2006/relationships/image" Target="../media/image-1-39.png"/><Relationship Id="rId40" Type="http://schemas.openxmlformats.org/officeDocument/2006/relationships/image" Target="../media/image-15-1.png"/><Relationship Id="rId41" Type="http://schemas.openxmlformats.org/officeDocument/2006/relationships/slideLayout" Target="../slideLayouts/slideLayout2.xml"/><Relationship Id="rId4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image" Target="../media/image-2-13.png"/><Relationship Id="rId14" Type="http://schemas.openxmlformats.org/officeDocument/2006/relationships/image" Target="../media/image-2-14.png"/><Relationship Id="rId15" Type="http://schemas.openxmlformats.org/officeDocument/2006/relationships/image" Target="../media/image-2-15.png"/><Relationship Id="rId16" Type="http://schemas.openxmlformats.org/officeDocument/2006/relationships/image" Target="../media/image-2-16.png"/><Relationship Id="rId17" Type="http://schemas.openxmlformats.org/officeDocument/2006/relationships/image" Target="../media/image-2-17.png"/><Relationship Id="rId18" Type="http://schemas.openxmlformats.org/officeDocument/2006/relationships/image" Target="../media/image-2-18.png"/><Relationship Id="rId19" Type="http://schemas.openxmlformats.org/officeDocument/2006/relationships/image" Target="../media/image-2-19.png"/><Relationship Id="rId20" Type="http://schemas.openxmlformats.org/officeDocument/2006/relationships/image" Target="../media/image-2-20.png"/><Relationship Id="rId21" Type="http://schemas.openxmlformats.org/officeDocument/2006/relationships/image" Target="../media/image-2-21.png"/><Relationship Id="rId22" Type="http://schemas.openxmlformats.org/officeDocument/2006/relationships/image" Target="../media/image-2-22.png"/><Relationship Id="rId23" Type="http://schemas.openxmlformats.org/officeDocument/2006/relationships/image" Target="../media/image-2-23.png"/><Relationship Id="rId24" Type="http://schemas.openxmlformats.org/officeDocument/2006/relationships/image" Target="../media/image-2-24.png"/><Relationship Id="rId25" Type="http://schemas.openxmlformats.org/officeDocument/2006/relationships/image" Target="../media/image-2-25.png"/><Relationship Id="rId26" Type="http://schemas.openxmlformats.org/officeDocument/2006/relationships/image" Target="../media/image-2-26.png"/><Relationship Id="rId27" Type="http://schemas.openxmlformats.org/officeDocument/2006/relationships/image" Target="../media/image-2-27.png"/><Relationship Id="rId28" Type="http://schemas.openxmlformats.org/officeDocument/2006/relationships/image" Target="../media/image-2-28.png"/><Relationship Id="rId29" Type="http://schemas.openxmlformats.org/officeDocument/2006/relationships/image" Target="../media/image-2-29.png"/><Relationship Id="rId30" Type="http://schemas.openxmlformats.org/officeDocument/2006/relationships/image" Target="../media/image-2-30.png"/><Relationship Id="rId31" Type="http://schemas.openxmlformats.org/officeDocument/2006/relationships/image" Target="../media/image-2-31.png"/><Relationship Id="rId32" Type="http://schemas.openxmlformats.org/officeDocument/2006/relationships/image" Target="../media/image-2-32.png"/><Relationship Id="rId33" Type="http://schemas.openxmlformats.org/officeDocument/2006/relationships/image" Target="../media/image-2-33.png"/><Relationship Id="rId34" Type="http://schemas.openxmlformats.org/officeDocument/2006/relationships/image" Target="../media/image-2-34.png"/><Relationship Id="rId35" Type="http://schemas.openxmlformats.org/officeDocument/2006/relationships/image" Target="../media/image-2-35.png"/><Relationship Id="rId36" Type="http://schemas.openxmlformats.org/officeDocument/2006/relationships/image" Target="../media/image-2-36.png"/><Relationship Id="rId37" Type="http://schemas.openxmlformats.org/officeDocument/2006/relationships/image" Target="../media/image-2-37.png"/><Relationship Id="rId38" Type="http://schemas.openxmlformats.org/officeDocument/2006/relationships/image" Target="../media/image-2-38.png"/><Relationship Id="rId39" Type="http://schemas.openxmlformats.org/officeDocument/2006/relationships/image" Target="../media/image-2-39.png"/><Relationship Id="rId40" Type="http://schemas.openxmlformats.org/officeDocument/2006/relationships/slideLayout" Target="../slideLayouts/slideLayout4.xml"/><Relationship Id="rId41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image" Target="../media/image-16-7.png"/><Relationship Id="rId8" Type="http://schemas.openxmlformats.org/officeDocument/2006/relationships/image" Target="../media/image-16-8.png"/><Relationship Id="rId9" Type="http://schemas.openxmlformats.org/officeDocument/2006/relationships/image" Target="../media/image-16-9.png"/><Relationship Id="rId10" Type="http://schemas.openxmlformats.org/officeDocument/2006/relationships/image" Target="../media/image-16-10.png"/><Relationship Id="rId11" Type="http://schemas.openxmlformats.org/officeDocument/2006/relationships/image" Target="../media/image-16-11.png"/><Relationship Id="rId12" Type="http://schemas.openxmlformats.org/officeDocument/2006/relationships/image" Target="../media/image-16-12.png"/><Relationship Id="rId13" Type="http://schemas.openxmlformats.org/officeDocument/2006/relationships/image" Target="../media/image-16-13.png"/><Relationship Id="rId14" Type="http://schemas.openxmlformats.org/officeDocument/2006/relationships/image" Target="../media/image-16-14.png"/><Relationship Id="rId15" Type="http://schemas.openxmlformats.org/officeDocument/2006/relationships/image" Target="../media/image-16-15.png"/><Relationship Id="rId16" Type="http://schemas.openxmlformats.org/officeDocument/2006/relationships/image" Target="../media/image-16-16.png"/><Relationship Id="rId17" Type="http://schemas.openxmlformats.org/officeDocument/2006/relationships/image" Target="../media/image-16-17.png"/><Relationship Id="rId18" Type="http://schemas.openxmlformats.org/officeDocument/2006/relationships/image" Target="../media/image-16-18.png"/><Relationship Id="rId19" Type="http://schemas.openxmlformats.org/officeDocument/2006/relationships/image" Target="../media/image-16-19.png"/><Relationship Id="rId20" Type="http://schemas.openxmlformats.org/officeDocument/2006/relationships/image" Target="../media/image-16-20.png"/><Relationship Id="rId21" Type="http://schemas.openxmlformats.org/officeDocument/2006/relationships/image" Target="../media/image-16-21.png"/><Relationship Id="rId22" Type="http://schemas.openxmlformats.org/officeDocument/2006/relationships/image" Target="../media/image-16-22.png"/><Relationship Id="rId23" Type="http://schemas.openxmlformats.org/officeDocument/2006/relationships/image" Target="../media/image-16-23.png"/><Relationship Id="rId24" Type="http://schemas.openxmlformats.org/officeDocument/2006/relationships/image" Target="../media/image-16-24.png"/><Relationship Id="rId25" Type="http://schemas.openxmlformats.org/officeDocument/2006/relationships/image" Target="../media/image-16-25.png"/><Relationship Id="rId26" Type="http://schemas.openxmlformats.org/officeDocument/2006/relationships/image" Target="../media/image-16-26.png"/><Relationship Id="rId27" Type="http://schemas.openxmlformats.org/officeDocument/2006/relationships/image" Target="../media/image-16-27.png"/><Relationship Id="rId28" Type="http://schemas.openxmlformats.org/officeDocument/2006/relationships/image" Target="../media/image-16-28.png"/><Relationship Id="rId29" Type="http://schemas.openxmlformats.org/officeDocument/2006/relationships/image" Target="../media/image-16-29.png"/><Relationship Id="rId30" Type="http://schemas.openxmlformats.org/officeDocument/2006/relationships/image" Target="../media/image-16-30.png"/><Relationship Id="rId31" Type="http://schemas.openxmlformats.org/officeDocument/2006/relationships/image" Target="../media/image-16-31.png"/><Relationship Id="rId32" Type="http://schemas.openxmlformats.org/officeDocument/2006/relationships/image" Target="../media/image-16-32.png"/><Relationship Id="rId33" Type="http://schemas.openxmlformats.org/officeDocument/2006/relationships/image" Target="../media/image-16-33.png"/><Relationship Id="rId34" Type="http://schemas.openxmlformats.org/officeDocument/2006/relationships/image" Target="../media/image-16-34.png"/><Relationship Id="rId35" Type="http://schemas.openxmlformats.org/officeDocument/2006/relationships/image" Target="../media/image-16-35.png"/><Relationship Id="rId36" Type="http://schemas.openxmlformats.org/officeDocument/2006/relationships/image" Target="../media/image-16-36.png"/><Relationship Id="rId37" Type="http://schemas.openxmlformats.org/officeDocument/2006/relationships/image" Target="../media/image-16-37.png"/><Relationship Id="rId38" Type="http://schemas.openxmlformats.org/officeDocument/2006/relationships/image" Target="../media/image-16-38.png"/><Relationship Id="rId39" Type="http://schemas.openxmlformats.org/officeDocument/2006/relationships/image" Target="../media/image-16-39.png"/><Relationship Id="rId40" Type="http://schemas.openxmlformats.org/officeDocument/2006/relationships/image" Target="../media/image-16-40.png"/><Relationship Id="rId41" Type="http://schemas.openxmlformats.org/officeDocument/2006/relationships/image" Target="../media/image-16-41.png"/><Relationship Id="rId42" Type="http://schemas.openxmlformats.org/officeDocument/2006/relationships/image" Target="../media/image-16-42.png"/><Relationship Id="rId43" Type="http://schemas.openxmlformats.org/officeDocument/2006/relationships/image" Target="../media/image-15-1.png"/><Relationship Id="rId44" Type="http://schemas.openxmlformats.org/officeDocument/2006/relationships/slideLayout" Target="../slideLayouts/slideLayout2.xml"/><Relationship Id="rId45" Type="http://schemas.openxmlformats.org/officeDocument/2006/relationships/notesSlide" Target="../notesSlides/notesSlide1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2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panel"/>
          <p:cNvSpPr/>
          <p:nvPr/>
        </p:nvSpPr>
        <p:spPr>
          <a:xfrm>
            <a:off x="8412480" y="0"/>
            <a:ext cx="3779215" cy="6858000"/>
          </a:xfrm>
          <a:prstGeom prst="rect">
            <a:avLst/>
          </a:prstGeom>
          <a:solidFill>
            <a:srgbClr val="D8E4EC"/>
          </a:solidFill>
          <a:ln w="12700">
            <a:solidFill>
              <a:srgbClr val="D8E4EC"/>
            </a:solidFill>
            <a:prstDash val="solid"/>
          </a:ln>
        </p:spPr>
      </p:sp>
      <p:pic>
        <p:nvPicPr>
          <p:cNvPr id="3" name="!!blk_00" descr="img2/tiles/tile_r01_c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57232" y="3017520"/>
            <a:ext cx="384048" cy="384048"/>
          </a:xfrm>
          <a:prstGeom prst="rect">
            <a:avLst/>
          </a:prstGeom>
        </p:spPr>
      </p:pic>
      <p:pic>
        <p:nvPicPr>
          <p:cNvPr id="4" name="!!blk_01" descr="img2/tiles/tile_r01_c0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3424" y="3017520"/>
            <a:ext cx="384048" cy="384048"/>
          </a:xfrm>
          <a:prstGeom prst="rect">
            <a:avLst/>
          </a:prstGeom>
        </p:spPr>
      </p:pic>
      <p:pic>
        <p:nvPicPr>
          <p:cNvPr id="5" name="!!blk_02" descr="img2/tiles/tile_r03_c04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73184" y="3785616"/>
            <a:ext cx="384048" cy="384048"/>
          </a:xfrm>
          <a:prstGeom prst="rect">
            <a:avLst/>
          </a:prstGeom>
        </p:spPr>
      </p:pic>
      <p:pic>
        <p:nvPicPr>
          <p:cNvPr id="6" name="!!blk_03" descr="img2/tiles/tile_r03_c10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77472" y="3785616"/>
            <a:ext cx="384048" cy="384048"/>
          </a:xfrm>
          <a:prstGeom prst="rect">
            <a:avLst/>
          </a:prstGeom>
        </p:spPr>
      </p:pic>
      <p:pic>
        <p:nvPicPr>
          <p:cNvPr id="7" name="!!blk_04" descr="img2/tiles/tile_r04_c04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73184" y="4169664"/>
            <a:ext cx="384048" cy="384048"/>
          </a:xfrm>
          <a:prstGeom prst="rect">
            <a:avLst/>
          </a:prstGeom>
        </p:spPr>
      </p:pic>
      <p:pic>
        <p:nvPicPr>
          <p:cNvPr id="8" name="!!blk_05" descr="img2/tiles/tile_r04_c05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57232" y="4169664"/>
            <a:ext cx="384048" cy="384048"/>
          </a:xfrm>
          <a:prstGeom prst="rect">
            <a:avLst/>
          </a:prstGeom>
        </p:spPr>
      </p:pic>
      <p:pic>
        <p:nvPicPr>
          <p:cNvPr id="9" name="!!blk_06" descr="img2/tiles/tile_r04_c07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25328" y="4169664"/>
            <a:ext cx="384048" cy="384048"/>
          </a:xfrm>
          <a:prstGeom prst="rect">
            <a:avLst/>
          </a:prstGeom>
        </p:spPr>
      </p:pic>
      <p:pic>
        <p:nvPicPr>
          <p:cNvPr id="10" name="!!blk_07" descr="img2/tiles/tile_r04_c08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09376" y="4169664"/>
            <a:ext cx="384048" cy="384048"/>
          </a:xfrm>
          <a:prstGeom prst="rect">
            <a:avLst/>
          </a:prstGeom>
        </p:spPr>
      </p:pic>
      <p:pic>
        <p:nvPicPr>
          <p:cNvPr id="11" name="!!blk_08" descr="img2/tiles/tile_r05_c04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73184" y="4553712"/>
            <a:ext cx="384048" cy="384048"/>
          </a:xfrm>
          <a:prstGeom prst="rect">
            <a:avLst/>
          </a:prstGeom>
        </p:spPr>
      </p:pic>
      <p:pic>
        <p:nvPicPr>
          <p:cNvPr id="12" name="!!blk_09" descr="img2/tiles/tile_r05_c05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857232" y="4553712"/>
            <a:ext cx="384048" cy="384048"/>
          </a:xfrm>
          <a:prstGeom prst="rect">
            <a:avLst/>
          </a:prstGeom>
        </p:spPr>
      </p:pic>
      <p:pic>
        <p:nvPicPr>
          <p:cNvPr id="13" name="!!blk_10" descr="img2/tiles/tile_r05_c06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241280" y="4553712"/>
            <a:ext cx="384048" cy="384048"/>
          </a:xfrm>
          <a:prstGeom prst="rect">
            <a:avLst/>
          </a:prstGeom>
        </p:spPr>
      </p:pic>
      <p:pic>
        <p:nvPicPr>
          <p:cNvPr id="14" name="!!blk_11" descr="img2/tiles/tile_r05_c07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625328" y="4553712"/>
            <a:ext cx="384048" cy="384048"/>
          </a:xfrm>
          <a:prstGeom prst="rect">
            <a:avLst/>
          </a:prstGeom>
        </p:spPr>
      </p:pic>
      <p:pic>
        <p:nvPicPr>
          <p:cNvPr id="15" name="!!blk_12" descr="img2/tiles/tile_r05_c08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009376" y="4553712"/>
            <a:ext cx="384048" cy="384048"/>
          </a:xfrm>
          <a:prstGeom prst="rect">
            <a:avLst/>
          </a:prstGeom>
        </p:spPr>
      </p:pic>
      <p:pic>
        <p:nvPicPr>
          <p:cNvPr id="16" name="!!blk_13" descr="img2/tiles/tile_r06_c02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705088" y="4937760"/>
            <a:ext cx="384048" cy="384048"/>
          </a:xfrm>
          <a:prstGeom prst="rect">
            <a:avLst/>
          </a:prstGeom>
        </p:spPr>
      </p:pic>
      <p:pic>
        <p:nvPicPr>
          <p:cNvPr id="17" name="!!blk_14" descr="img2/tiles/tile_r06_c04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473184" y="4937760"/>
            <a:ext cx="384048" cy="384048"/>
          </a:xfrm>
          <a:prstGeom prst="rect">
            <a:avLst/>
          </a:prstGeom>
        </p:spPr>
      </p:pic>
      <p:pic>
        <p:nvPicPr>
          <p:cNvPr id="18" name="!!blk_15" descr="img2/tiles/tile_r06_c05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857232" y="4937760"/>
            <a:ext cx="384048" cy="384048"/>
          </a:xfrm>
          <a:prstGeom prst="rect">
            <a:avLst/>
          </a:prstGeom>
        </p:spPr>
      </p:pic>
      <p:pic>
        <p:nvPicPr>
          <p:cNvPr id="19" name="!!blk_16" descr="img2/tiles/tile_r06_c06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241280" y="4937760"/>
            <a:ext cx="384048" cy="384048"/>
          </a:xfrm>
          <a:prstGeom prst="rect">
            <a:avLst/>
          </a:prstGeom>
        </p:spPr>
      </p:pic>
      <p:pic>
        <p:nvPicPr>
          <p:cNvPr id="20" name="!!blk_17" descr="img2/tiles/tile_r06_c07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625328" y="4937760"/>
            <a:ext cx="384048" cy="384048"/>
          </a:xfrm>
          <a:prstGeom prst="rect">
            <a:avLst/>
          </a:prstGeom>
        </p:spPr>
      </p:pic>
      <p:pic>
        <p:nvPicPr>
          <p:cNvPr id="21" name="!!blk_18" descr="img2/tiles/tile_r06_c10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1777472" y="4937760"/>
            <a:ext cx="384048" cy="384048"/>
          </a:xfrm>
          <a:prstGeom prst="rect">
            <a:avLst/>
          </a:prstGeom>
        </p:spPr>
      </p:pic>
      <p:pic>
        <p:nvPicPr>
          <p:cNvPr id="22" name="!!blk_19" descr="img2/tiles/tile_r07_c02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705088" y="5321808"/>
            <a:ext cx="384048" cy="384048"/>
          </a:xfrm>
          <a:prstGeom prst="rect">
            <a:avLst/>
          </a:prstGeom>
        </p:spPr>
      </p:pic>
      <p:pic>
        <p:nvPicPr>
          <p:cNvPr id="23" name="!!blk_20" descr="img2/tiles/tile_r07_c04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473184" y="5321808"/>
            <a:ext cx="384048" cy="384048"/>
          </a:xfrm>
          <a:prstGeom prst="rect">
            <a:avLst/>
          </a:prstGeom>
        </p:spPr>
      </p:pic>
      <p:pic>
        <p:nvPicPr>
          <p:cNvPr id="24" name="!!blk_21" descr="img2/tiles/tile_r07_c05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857232" y="5321808"/>
            <a:ext cx="384048" cy="384048"/>
          </a:xfrm>
          <a:prstGeom prst="rect">
            <a:avLst/>
          </a:prstGeom>
        </p:spPr>
      </p:pic>
      <p:pic>
        <p:nvPicPr>
          <p:cNvPr id="25" name="!!blk_22" descr="img2/tiles/tile_r07_c06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0241280" y="5321808"/>
            <a:ext cx="384048" cy="384048"/>
          </a:xfrm>
          <a:prstGeom prst="rect">
            <a:avLst/>
          </a:prstGeom>
        </p:spPr>
      </p:pic>
      <p:pic>
        <p:nvPicPr>
          <p:cNvPr id="26" name="!!blk_23" descr="img2/tiles/tile_r07_c07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0625328" y="5321808"/>
            <a:ext cx="384048" cy="384048"/>
          </a:xfrm>
          <a:prstGeom prst="rect">
            <a:avLst/>
          </a:prstGeom>
        </p:spPr>
      </p:pic>
      <p:pic>
        <p:nvPicPr>
          <p:cNvPr id="27" name="!!blk_24" descr="img2/tiles/tile_r08_c00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936992" y="5705856"/>
            <a:ext cx="384048" cy="384048"/>
          </a:xfrm>
          <a:prstGeom prst="rect">
            <a:avLst/>
          </a:prstGeom>
        </p:spPr>
      </p:pic>
      <p:pic>
        <p:nvPicPr>
          <p:cNvPr id="28" name="!!blk_25" descr="img2/tiles/tile_r08_c03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9089136" y="5705856"/>
            <a:ext cx="384048" cy="384048"/>
          </a:xfrm>
          <a:prstGeom prst="rect">
            <a:avLst/>
          </a:prstGeom>
        </p:spPr>
      </p:pic>
      <p:pic>
        <p:nvPicPr>
          <p:cNvPr id="29" name="!!blk_26" descr="img2/tiles/tile_r08_c04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9473184" y="5705856"/>
            <a:ext cx="384048" cy="384048"/>
          </a:xfrm>
          <a:prstGeom prst="rect">
            <a:avLst/>
          </a:prstGeom>
        </p:spPr>
      </p:pic>
      <p:pic>
        <p:nvPicPr>
          <p:cNvPr id="30" name="!!blk_27" descr="img2/tiles/tile_r08_c05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9857232" y="5705856"/>
            <a:ext cx="384048" cy="384048"/>
          </a:xfrm>
          <a:prstGeom prst="rect">
            <a:avLst/>
          </a:prstGeom>
        </p:spPr>
      </p:pic>
      <p:pic>
        <p:nvPicPr>
          <p:cNvPr id="31" name="!!blk_28" descr="img2/tiles/tile_r08_c06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0241280" y="5705856"/>
            <a:ext cx="384048" cy="384048"/>
          </a:xfrm>
          <a:prstGeom prst="rect">
            <a:avLst/>
          </a:prstGeom>
        </p:spPr>
      </p:pic>
      <p:pic>
        <p:nvPicPr>
          <p:cNvPr id="32" name="!!blk_29" descr="img2/tiles/tile_r08_c07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0625328" y="5705856"/>
            <a:ext cx="384048" cy="384048"/>
          </a:xfrm>
          <a:prstGeom prst="rect">
            <a:avLst/>
          </a:prstGeom>
        </p:spPr>
      </p:pic>
      <p:pic>
        <p:nvPicPr>
          <p:cNvPr id="33" name="!!blk_30" descr="img2/tiles/tile_r08_c08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1009376" y="5705856"/>
            <a:ext cx="384048" cy="384048"/>
          </a:xfrm>
          <a:prstGeom prst="rect">
            <a:avLst/>
          </a:prstGeom>
        </p:spPr>
      </p:pic>
      <p:pic>
        <p:nvPicPr>
          <p:cNvPr id="34" name="!!blk_31" descr="img2/tiles/tile_r08_c09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1393424" y="5705856"/>
            <a:ext cx="384048" cy="384048"/>
          </a:xfrm>
          <a:prstGeom prst="rect">
            <a:avLst/>
          </a:prstGeom>
        </p:spPr>
      </p:pic>
      <p:pic>
        <p:nvPicPr>
          <p:cNvPr id="35" name="!!blk_32" descr="img2/tiles/tile_r09_c00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7936992" y="6089904"/>
            <a:ext cx="384048" cy="384048"/>
          </a:xfrm>
          <a:prstGeom prst="rect">
            <a:avLst/>
          </a:prstGeom>
        </p:spPr>
      </p:pic>
      <p:pic>
        <p:nvPicPr>
          <p:cNvPr id="36" name="!!blk_33" descr="img2/tiles/tile_r09_c01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8321040" y="6089904"/>
            <a:ext cx="384048" cy="384048"/>
          </a:xfrm>
          <a:prstGeom prst="rect">
            <a:avLst/>
          </a:prstGeom>
        </p:spPr>
      </p:pic>
      <p:pic>
        <p:nvPicPr>
          <p:cNvPr id="37" name="!!blk_34" descr="img2/tiles/tile_r09_c04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9473184" y="6089904"/>
            <a:ext cx="384048" cy="384048"/>
          </a:xfrm>
          <a:prstGeom prst="rect">
            <a:avLst/>
          </a:prstGeom>
        </p:spPr>
      </p:pic>
      <p:pic>
        <p:nvPicPr>
          <p:cNvPr id="38" name="!!blk_35" descr="img2/tiles/tile_r09_c05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9857232" y="6089904"/>
            <a:ext cx="384048" cy="384048"/>
          </a:xfrm>
          <a:prstGeom prst="rect">
            <a:avLst/>
          </a:prstGeom>
        </p:spPr>
      </p:pic>
      <p:pic>
        <p:nvPicPr>
          <p:cNvPr id="39" name="!!blk_36" descr="img2/tiles/tile_r09_c08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11009376" y="6089904"/>
            <a:ext cx="384048" cy="384048"/>
          </a:xfrm>
          <a:prstGeom prst="rect">
            <a:avLst/>
          </a:prstGeom>
        </p:spPr>
      </p:pic>
      <p:pic>
        <p:nvPicPr>
          <p:cNvPr id="40" name="!!blk_37" descr="img2/tiles/tile_r10_c03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9089136" y="6473952"/>
            <a:ext cx="384048" cy="384048"/>
          </a:xfrm>
          <a:prstGeom prst="rect">
            <a:avLst/>
          </a:prstGeom>
        </p:spPr>
      </p:pic>
      <p:pic>
        <p:nvPicPr>
          <p:cNvPr id="41" name="!!blk_38" descr="img2/tiles/tile_r10_c06.pn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10241280" y="6473952"/>
            <a:ext cx="384048" cy="384048"/>
          </a:xfrm>
          <a:prstGeom prst="rect">
            <a:avLst/>
          </a:prstGeom>
        </p:spPr>
      </p:pic>
      <p:sp>
        <p:nvSpPr>
          <p:cNvPr id="42" name="!!label"/>
          <p:cNvSpPr txBox="1"/>
          <p:nvPr/>
        </p:nvSpPr>
        <p:spPr>
          <a:xfrm>
            <a:off x="411480" y="22860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1400" i="1" dirty="0">
                <a:solidFill>
                  <a:srgbClr val="5B6B75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Apresentação Institucional  ·  2026</a:t>
            </a:r>
            <a:endParaRPr lang="pt-BR" sz="1400" dirty="0"/>
          </a:p>
        </p:txBody>
      </p:sp>
      <p:sp>
        <p:nvSpPr>
          <p:cNvPr id="43" name="!!title"/>
          <p:cNvSpPr txBox="1"/>
          <p:nvPr/>
        </p:nvSpPr>
        <p:spPr>
          <a:xfrm>
            <a:off x="411480" y="2606040"/>
            <a:ext cx="7680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3400" b="1" dirty="0">
                <a:solidFill>
                  <a:srgbClr val="2828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Inteligência para reduzir</a:t>
            </a:r>
            <a:endParaRPr lang="pt-BR" sz="3400" dirty="0"/>
          </a:p>
          <a:p>
            <a:pPr indent="0" marL="0">
              <a:buNone/>
            </a:pPr>
            <a:r>
              <a:rPr lang="pt-BR" sz="3400" b="1" dirty="0">
                <a:solidFill>
                  <a:srgbClr val="2828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perdas reais de água</a:t>
            </a:r>
            <a:endParaRPr lang="pt-BR" sz="3400" dirty="0"/>
          </a:p>
        </p:txBody>
      </p:sp>
      <p:sp>
        <p:nvSpPr>
          <p:cNvPr id="44" name="capa_sub"/>
          <p:cNvSpPr txBox="1"/>
          <p:nvPr/>
        </p:nvSpPr>
        <p:spPr>
          <a:xfrm>
            <a:off x="411480" y="38404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1800" dirty="0">
                <a:solidFill>
                  <a:srgbClr val="5B6B75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Tecnologia, operação e dados em um fluxo contínuo e rastreável.</a:t>
            </a:r>
            <a:endParaRPr lang="pt-BR" sz="1800" dirty="0"/>
          </a:p>
        </p:txBody>
      </p:sp>
      <p:sp>
        <p:nvSpPr>
          <p:cNvPr id="45" name="capa_meta"/>
          <p:cNvSpPr txBox="1"/>
          <p:nvPr/>
        </p:nvSpPr>
        <p:spPr>
          <a:xfrm>
            <a:off x="411480" y="43891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1200" dirty="0">
                <a:solidFill>
                  <a:srgbClr val="6B768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hydroforce.com.br</a:t>
            </a:r>
            <a:endParaRPr lang="pt-BR" sz="1200" dirty="0"/>
          </a:p>
        </p:txBody>
      </p:sp>
      <p:sp>
        <p:nvSpPr>
          <p:cNvPr id="46" name="!!rule"/>
          <p:cNvSpPr/>
          <p:nvPr/>
        </p:nvSpPr>
        <p:spPr>
          <a:xfrm>
            <a:off x="0" y="6382512"/>
            <a:ext cx="8001000" cy="0"/>
          </a:xfrm>
          <a:prstGeom prst="line">
            <a:avLst/>
          </a:prstGeom>
          <a:noFill/>
          <a:ln w="12700">
            <a:solidFill>
              <a:srgbClr val="28282D">
                <a:alpha val="45000"/>
              </a:srgbClr>
            </a:solidFill>
            <a:prstDash val="solid"/>
          </a:ln>
        </p:spPr>
      </p:sp>
      <p:pic>
        <p:nvPicPr>
          <p:cNvPr id="47" name="!!logo" descr="logos/logo_branco.png">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137160" y="6473952"/>
            <a:ext cx="1947672" cy="28346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xmlns:p159="http://schemas.microsoft.com/office/powerpoint/2015/09/main" Requires="p159">
      <p:transition spd="slow" p14:dur="900">
        <p159:morph option="byObjec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7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7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9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385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455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595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665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735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805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875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945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1015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1085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1155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1225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1295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133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0" nodeType="withEffect">
                                  <p:stCondLst>
                                    <p:cond delay="1365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grpId="0" nodeType="withEffect">
                                  <p:stCondLst>
                                    <p:cond delay="1435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grpId="0" nodeType="withEffect">
                                  <p:stCondLst>
                                    <p:cond delay="147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grpId="0" nodeType="withEffect">
                                  <p:stCondLst>
                                    <p:cond delay="1505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grpId="0" nodeType="withEffect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grpId="0" nodeType="withEffect">
                                  <p:stCondLst>
                                    <p:cond delay="1575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grpId="0" nodeType="withEffect">
                                  <p:stCondLst>
                                    <p:cond delay="161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10" presetClass="entr" presetSubtype="0" fill="hold" grpId="0" nodeType="withEffect">
                                  <p:stCondLst>
                                    <p:cond delay="1645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10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  <p:bldP spid="43" grpId="0"/>
      <p:bldP spid="44" grpId="0"/>
      <p:bldP spid="45" grpId="0"/>
      <p:bldP spid="46" grpId="0"/>
      <p:bldP spid="47" grpId="0"/>
      <p:bldP spid="2" grpId="0"/>
      <p:bldP spid="3" grpId="0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/>
      <p:bldP spid="39" grpId="0"/>
      <p:bldP spid="40" grpId="0"/>
      <p:bldP spid="4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panel"/>
          <p:cNvSpPr/>
          <p:nvPr/>
        </p:nvSpPr>
        <p:spPr>
          <a:xfrm>
            <a:off x="9418320" y="0"/>
            <a:ext cx="2773375" cy="6181344"/>
          </a:xfrm>
          <a:prstGeom prst="rect">
            <a:avLst/>
          </a:prstGeom>
          <a:solidFill>
            <a:srgbClr val="D8E4EC"/>
          </a:solidFill>
          <a:ln w="12700">
            <a:solidFill>
              <a:srgbClr val="D8E4EC"/>
            </a:solidFill>
            <a:prstDash val="solid"/>
          </a:ln>
        </p:spPr>
      </p:sp>
      <p:pic>
        <p:nvPicPr>
          <p:cNvPr id="3" name="!!blk_00" descr="img2/tiles/tile_r01_c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28" y="3429000"/>
            <a:ext cx="384048" cy="384048"/>
          </a:xfrm>
          <a:prstGeom prst="rect">
            <a:avLst/>
          </a:prstGeom>
        </p:spPr>
      </p:pic>
      <p:pic>
        <p:nvPicPr>
          <p:cNvPr id="4" name="!!blk_01" descr="img2/tiles/tile_r01_c0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4976" y="3429000"/>
            <a:ext cx="384048" cy="384048"/>
          </a:xfrm>
          <a:prstGeom prst="rect">
            <a:avLst/>
          </a:prstGeom>
        </p:spPr>
      </p:pic>
      <p:pic>
        <p:nvPicPr>
          <p:cNvPr id="5" name="!!blk_02" descr="img2/tiles/tile_r03_c04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9024" y="3429000"/>
            <a:ext cx="384048" cy="384048"/>
          </a:xfrm>
          <a:prstGeom prst="rect">
            <a:avLst/>
          </a:prstGeom>
        </p:spPr>
      </p:pic>
      <p:pic>
        <p:nvPicPr>
          <p:cNvPr id="6" name="!!blk_03" descr="img2/tiles/tile_r03_c10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63072" y="3429000"/>
            <a:ext cx="384048" cy="384048"/>
          </a:xfrm>
          <a:prstGeom prst="rect">
            <a:avLst/>
          </a:prstGeom>
        </p:spPr>
      </p:pic>
      <p:pic>
        <p:nvPicPr>
          <p:cNvPr id="7" name="!!blk_04" descr="img2/tiles/tile_r04_c04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47120" y="3429000"/>
            <a:ext cx="384048" cy="384048"/>
          </a:xfrm>
          <a:prstGeom prst="rect">
            <a:avLst/>
          </a:prstGeom>
        </p:spPr>
      </p:pic>
      <p:pic>
        <p:nvPicPr>
          <p:cNvPr id="8" name="!!blk_05" descr="img2/tiles/tile_r04_c05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631168" y="3429000"/>
            <a:ext cx="384048" cy="384048"/>
          </a:xfrm>
          <a:prstGeom prst="rect">
            <a:avLst/>
          </a:prstGeom>
        </p:spPr>
      </p:pic>
      <p:pic>
        <p:nvPicPr>
          <p:cNvPr id="9" name="!!blk_06" descr="img2/tiles/tile_r04_c07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10928" y="3813048"/>
            <a:ext cx="384048" cy="384048"/>
          </a:xfrm>
          <a:prstGeom prst="rect">
            <a:avLst/>
          </a:prstGeom>
        </p:spPr>
      </p:pic>
      <p:pic>
        <p:nvPicPr>
          <p:cNvPr id="10" name="!!blk_07" descr="img2/tiles/tile_r04_c08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94976" y="3813048"/>
            <a:ext cx="384048" cy="384048"/>
          </a:xfrm>
          <a:prstGeom prst="rect">
            <a:avLst/>
          </a:prstGeom>
        </p:spPr>
      </p:pic>
      <p:pic>
        <p:nvPicPr>
          <p:cNvPr id="11" name="!!blk_08" descr="img2/tiles/tile_r05_c04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79024" y="3813048"/>
            <a:ext cx="384048" cy="384048"/>
          </a:xfrm>
          <a:prstGeom prst="rect">
            <a:avLst/>
          </a:prstGeom>
        </p:spPr>
      </p:pic>
      <p:pic>
        <p:nvPicPr>
          <p:cNvPr id="12" name="!!blk_09" descr="img2/tiles/tile_r05_c05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863072" y="3813048"/>
            <a:ext cx="384048" cy="384048"/>
          </a:xfrm>
          <a:prstGeom prst="rect">
            <a:avLst/>
          </a:prstGeom>
        </p:spPr>
      </p:pic>
      <p:pic>
        <p:nvPicPr>
          <p:cNvPr id="13" name="!!blk_10" descr="img2/tiles/tile_r05_c06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247120" y="3813048"/>
            <a:ext cx="384048" cy="384048"/>
          </a:xfrm>
          <a:prstGeom prst="rect">
            <a:avLst/>
          </a:prstGeom>
        </p:spPr>
      </p:pic>
      <p:pic>
        <p:nvPicPr>
          <p:cNvPr id="14" name="!!blk_11" descr="img2/tiles/tile_r05_c07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631168" y="3813048"/>
            <a:ext cx="384048" cy="384048"/>
          </a:xfrm>
          <a:prstGeom prst="rect">
            <a:avLst/>
          </a:prstGeom>
        </p:spPr>
      </p:pic>
      <p:pic>
        <p:nvPicPr>
          <p:cNvPr id="15" name="!!blk_12" descr="img2/tiles/tile_r05_c08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710928" y="4197096"/>
            <a:ext cx="384048" cy="384048"/>
          </a:xfrm>
          <a:prstGeom prst="rect">
            <a:avLst/>
          </a:prstGeom>
        </p:spPr>
      </p:pic>
      <p:pic>
        <p:nvPicPr>
          <p:cNvPr id="16" name="!!blk_13" descr="img2/tiles/tile_r06_c02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094976" y="4197096"/>
            <a:ext cx="384048" cy="384048"/>
          </a:xfrm>
          <a:prstGeom prst="rect">
            <a:avLst/>
          </a:prstGeom>
        </p:spPr>
      </p:pic>
      <p:pic>
        <p:nvPicPr>
          <p:cNvPr id="17" name="!!blk_14" descr="img2/tiles/tile_r06_c04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479024" y="4197096"/>
            <a:ext cx="384048" cy="384048"/>
          </a:xfrm>
          <a:prstGeom prst="rect">
            <a:avLst/>
          </a:prstGeom>
        </p:spPr>
      </p:pic>
      <p:pic>
        <p:nvPicPr>
          <p:cNvPr id="18" name="!!blk_15" descr="img2/tiles/tile_r06_c05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863072" y="4197096"/>
            <a:ext cx="384048" cy="384048"/>
          </a:xfrm>
          <a:prstGeom prst="rect">
            <a:avLst/>
          </a:prstGeom>
        </p:spPr>
      </p:pic>
      <p:pic>
        <p:nvPicPr>
          <p:cNvPr id="19" name="!!blk_16" descr="img2/tiles/tile_r06_c06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1247120" y="4197096"/>
            <a:ext cx="384048" cy="384048"/>
          </a:xfrm>
          <a:prstGeom prst="rect">
            <a:avLst/>
          </a:prstGeom>
        </p:spPr>
      </p:pic>
      <p:pic>
        <p:nvPicPr>
          <p:cNvPr id="20" name="!!blk_17" descr="img2/tiles/tile_r06_c07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1631168" y="4197096"/>
            <a:ext cx="384048" cy="384048"/>
          </a:xfrm>
          <a:prstGeom prst="rect">
            <a:avLst/>
          </a:prstGeom>
        </p:spPr>
      </p:pic>
      <p:pic>
        <p:nvPicPr>
          <p:cNvPr id="21" name="!!blk_18" descr="img2/tiles/tile_r06_c10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710928" y="4581144"/>
            <a:ext cx="384048" cy="384048"/>
          </a:xfrm>
          <a:prstGeom prst="rect">
            <a:avLst/>
          </a:prstGeom>
        </p:spPr>
      </p:pic>
      <p:pic>
        <p:nvPicPr>
          <p:cNvPr id="22" name="!!blk_19" descr="img2/tiles/tile_r07_c02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094976" y="4581144"/>
            <a:ext cx="384048" cy="384048"/>
          </a:xfrm>
          <a:prstGeom prst="rect">
            <a:avLst/>
          </a:prstGeom>
        </p:spPr>
      </p:pic>
      <p:pic>
        <p:nvPicPr>
          <p:cNvPr id="23" name="!!blk_20" descr="img2/tiles/tile_r07_c04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479024" y="4581144"/>
            <a:ext cx="384048" cy="384048"/>
          </a:xfrm>
          <a:prstGeom prst="rect">
            <a:avLst/>
          </a:prstGeom>
        </p:spPr>
      </p:pic>
      <p:pic>
        <p:nvPicPr>
          <p:cNvPr id="24" name="!!blk_21" descr="img2/tiles/tile_r07_c05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863072" y="4581144"/>
            <a:ext cx="384048" cy="384048"/>
          </a:xfrm>
          <a:prstGeom prst="rect">
            <a:avLst/>
          </a:prstGeom>
        </p:spPr>
      </p:pic>
      <p:pic>
        <p:nvPicPr>
          <p:cNvPr id="25" name="!!blk_22" descr="img2/tiles/tile_r07_c06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1247120" y="4581144"/>
            <a:ext cx="384048" cy="384048"/>
          </a:xfrm>
          <a:prstGeom prst="rect">
            <a:avLst/>
          </a:prstGeom>
        </p:spPr>
      </p:pic>
      <p:pic>
        <p:nvPicPr>
          <p:cNvPr id="26" name="!!blk_23" descr="img2/tiles/tile_r07_c07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1631168" y="4581144"/>
            <a:ext cx="384048" cy="384048"/>
          </a:xfrm>
          <a:prstGeom prst="rect">
            <a:avLst/>
          </a:prstGeom>
        </p:spPr>
      </p:pic>
      <p:pic>
        <p:nvPicPr>
          <p:cNvPr id="27" name="!!blk_24" descr="img2/tiles/tile_r08_c00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710928" y="4965192"/>
            <a:ext cx="384048" cy="384048"/>
          </a:xfrm>
          <a:prstGeom prst="rect">
            <a:avLst/>
          </a:prstGeom>
        </p:spPr>
      </p:pic>
      <p:pic>
        <p:nvPicPr>
          <p:cNvPr id="28" name="!!blk_25" descr="img2/tiles/tile_r08_c03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0094976" y="4965192"/>
            <a:ext cx="384048" cy="384048"/>
          </a:xfrm>
          <a:prstGeom prst="rect">
            <a:avLst/>
          </a:prstGeom>
        </p:spPr>
      </p:pic>
      <p:pic>
        <p:nvPicPr>
          <p:cNvPr id="29" name="!!blk_26" descr="img2/tiles/tile_r08_c04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0479024" y="4965192"/>
            <a:ext cx="384048" cy="384048"/>
          </a:xfrm>
          <a:prstGeom prst="rect">
            <a:avLst/>
          </a:prstGeom>
        </p:spPr>
      </p:pic>
      <p:pic>
        <p:nvPicPr>
          <p:cNvPr id="30" name="!!blk_27" descr="img2/tiles/tile_r08_c05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0863072" y="4965192"/>
            <a:ext cx="384048" cy="384048"/>
          </a:xfrm>
          <a:prstGeom prst="rect">
            <a:avLst/>
          </a:prstGeom>
        </p:spPr>
      </p:pic>
      <p:pic>
        <p:nvPicPr>
          <p:cNvPr id="31" name="!!blk_28" descr="img2/tiles/tile_r08_c06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1247120" y="4965192"/>
            <a:ext cx="384048" cy="384048"/>
          </a:xfrm>
          <a:prstGeom prst="rect">
            <a:avLst/>
          </a:prstGeom>
        </p:spPr>
      </p:pic>
      <p:pic>
        <p:nvPicPr>
          <p:cNvPr id="32" name="!!blk_29" descr="img2/tiles/tile_r08_c07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1631168" y="4965192"/>
            <a:ext cx="384048" cy="384048"/>
          </a:xfrm>
          <a:prstGeom prst="rect">
            <a:avLst/>
          </a:prstGeom>
        </p:spPr>
      </p:pic>
      <p:pic>
        <p:nvPicPr>
          <p:cNvPr id="33" name="!!blk_30" descr="img2/tiles/tile_r08_c08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9710928" y="5349240"/>
            <a:ext cx="384048" cy="384048"/>
          </a:xfrm>
          <a:prstGeom prst="rect">
            <a:avLst/>
          </a:prstGeom>
        </p:spPr>
      </p:pic>
      <p:pic>
        <p:nvPicPr>
          <p:cNvPr id="34" name="!!blk_31" descr="img2/tiles/tile_r08_c09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0094976" y="5349240"/>
            <a:ext cx="384048" cy="384048"/>
          </a:xfrm>
          <a:prstGeom prst="rect">
            <a:avLst/>
          </a:prstGeom>
        </p:spPr>
      </p:pic>
      <p:pic>
        <p:nvPicPr>
          <p:cNvPr id="35" name="!!blk_32" descr="img2/tiles/tile_r09_c00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10479024" y="5349240"/>
            <a:ext cx="384048" cy="384048"/>
          </a:xfrm>
          <a:prstGeom prst="rect">
            <a:avLst/>
          </a:prstGeom>
        </p:spPr>
      </p:pic>
      <p:pic>
        <p:nvPicPr>
          <p:cNvPr id="36" name="!!blk_33" descr="img2/tiles/tile_r09_c01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10863072" y="5349240"/>
            <a:ext cx="384048" cy="384048"/>
          </a:xfrm>
          <a:prstGeom prst="rect">
            <a:avLst/>
          </a:prstGeom>
        </p:spPr>
      </p:pic>
      <p:pic>
        <p:nvPicPr>
          <p:cNvPr id="37" name="!!blk_34" descr="img2/tiles/tile_r09_c04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11247120" y="5349240"/>
            <a:ext cx="384048" cy="384048"/>
          </a:xfrm>
          <a:prstGeom prst="rect">
            <a:avLst/>
          </a:prstGeom>
        </p:spPr>
      </p:pic>
      <p:pic>
        <p:nvPicPr>
          <p:cNvPr id="38" name="!!blk_35" descr="img2/tiles/tile_r09_c05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11631168" y="5349240"/>
            <a:ext cx="384048" cy="384048"/>
          </a:xfrm>
          <a:prstGeom prst="rect">
            <a:avLst/>
          </a:prstGeom>
        </p:spPr>
      </p:pic>
      <p:pic>
        <p:nvPicPr>
          <p:cNvPr id="39" name="!!blk_36" descr="img2/tiles/tile_r09_c08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9710928" y="5733288"/>
            <a:ext cx="384048" cy="384048"/>
          </a:xfrm>
          <a:prstGeom prst="rect">
            <a:avLst/>
          </a:prstGeom>
        </p:spPr>
      </p:pic>
      <p:pic>
        <p:nvPicPr>
          <p:cNvPr id="40" name="!!blk_37" descr="img2/tiles/tile_r10_c03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10094976" y="5733288"/>
            <a:ext cx="384048" cy="384048"/>
          </a:xfrm>
          <a:prstGeom prst="rect">
            <a:avLst/>
          </a:prstGeom>
        </p:spPr>
      </p:pic>
      <p:pic>
        <p:nvPicPr>
          <p:cNvPr id="41" name="!!blk_38" descr="img2/tiles/tile_r10_c06.pn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10479024" y="5733288"/>
            <a:ext cx="384048" cy="384048"/>
          </a:xfrm>
          <a:prstGeom prst="rect">
            <a:avLst/>
          </a:prstGeom>
        </p:spPr>
      </p:pic>
      <p:sp>
        <p:nvSpPr>
          <p:cNvPr id="42" name="!!label"/>
          <p:cNvSpPr txBox="1"/>
          <p:nvPr/>
        </p:nvSpPr>
        <p:spPr>
          <a:xfrm>
            <a:off x="41148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1300" i="1" dirty="0">
                <a:solidFill>
                  <a:srgbClr val="5B6B75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O que vamos ver</a:t>
            </a:r>
            <a:endParaRPr lang="pt-BR" sz="1300" dirty="0"/>
          </a:p>
        </p:txBody>
      </p:sp>
      <p:sp>
        <p:nvSpPr>
          <p:cNvPr id="43" name="!!title"/>
          <p:cNvSpPr txBox="1"/>
          <p:nvPr/>
        </p:nvSpPr>
        <p:spPr>
          <a:xfrm>
            <a:off x="411480" y="53035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2500" b="1" dirty="0">
                <a:solidFill>
                  <a:srgbClr val="2828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SUMÁRIO</a:t>
            </a:r>
            <a:endParaRPr lang="pt-BR" sz="2500" dirty="0"/>
          </a:p>
        </p:txBody>
      </p:sp>
      <p:sp>
        <p:nvSpPr>
          <p:cNvPr id="44" name="ag_c0"/>
          <p:cNvSpPr/>
          <p:nvPr/>
        </p:nvSpPr>
        <p:spPr>
          <a:xfrm>
            <a:off x="457200" y="1417320"/>
            <a:ext cx="420624" cy="420624"/>
          </a:xfrm>
          <a:prstGeom prst="ellipse">
            <a:avLst/>
          </a:prstGeom>
          <a:solidFill>
            <a:srgbClr val="0B2336">
              <a:alpha val="0"/>
            </a:srgbClr>
          </a:solidFill>
          <a:ln w="19050">
            <a:solidFill>
              <a:srgbClr val="00539C"/>
            </a:solidFill>
            <a:prstDash val="solid"/>
          </a:ln>
        </p:spPr>
      </p:sp>
      <p:sp>
        <p:nvSpPr>
          <p:cNvPr id="45" name="ag_n0"/>
          <p:cNvSpPr txBox="1"/>
          <p:nvPr/>
        </p:nvSpPr>
        <p:spPr>
          <a:xfrm>
            <a:off x="457200" y="14173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200" b="1" dirty="0">
                <a:solidFill>
                  <a:srgbClr val="00539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pt-BR" sz="1200" dirty="0"/>
          </a:p>
        </p:txBody>
      </p:sp>
      <p:sp>
        <p:nvSpPr>
          <p:cNvPr id="46" name="ag_t0"/>
          <p:cNvSpPr txBox="1"/>
          <p:nvPr/>
        </p:nvSpPr>
        <p:spPr>
          <a:xfrm>
            <a:off x="1097280" y="139903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1700" dirty="0">
                <a:solidFill>
                  <a:srgbClr val="28282D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O desafio: perdas de água em escala nacional</a:t>
            </a:r>
            <a:endParaRPr lang="pt-BR" sz="1700" dirty="0"/>
          </a:p>
        </p:txBody>
      </p:sp>
      <p:sp>
        <p:nvSpPr>
          <p:cNvPr id="47" name="ag_l0"/>
          <p:cNvSpPr/>
          <p:nvPr/>
        </p:nvSpPr>
        <p:spPr>
          <a:xfrm>
            <a:off x="1097280" y="1965960"/>
            <a:ext cx="7589520" cy="0"/>
          </a:xfrm>
          <a:prstGeom prst="line">
            <a:avLst/>
          </a:prstGeom>
          <a:noFill/>
          <a:ln w="6350">
            <a:solidFill>
              <a:srgbClr val="28282D">
                <a:alpha val="25000"/>
              </a:srgbClr>
            </a:solidFill>
            <a:prstDash val="solid"/>
          </a:ln>
        </p:spPr>
      </p:sp>
      <p:sp>
        <p:nvSpPr>
          <p:cNvPr id="48" name="ag_c1"/>
          <p:cNvSpPr/>
          <p:nvPr/>
        </p:nvSpPr>
        <p:spPr>
          <a:xfrm>
            <a:off x="457200" y="2130552"/>
            <a:ext cx="420624" cy="420624"/>
          </a:xfrm>
          <a:prstGeom prst="ellipse">
            <a:avLst/>
          </a:prstGeom>
          <a:solidFill>
            <a:srgbClr val="0B2336">
              <a:alpha val="0"/>
            </a:srgbClr>
          </a:solidFill>
          <a:ln w="19050">
            <a:solidFill>
              <a:srgbClr val="00539C"/>
            </a:solidFill>
            <a:prstDash val="solid"/>
          </a:ln>
        </p:spPr>
      </p:sp>
      <p:sp>
        <p:nvSpPr>
          <p:cNvPr id="49" name="ag_n1"/>
          <p:cNvSpPr txBox="1"/>
          <p:nvPr/>
        </p:nvSpPr>
        <p:spPr>
          <a:xfrm>
            <a:off x="457200" y="21305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200" b="1" dirty="0">
                <a:solidFill>
                  <a:srgbClr val="00539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pt-BR" sz="1200" dirty="0"/>
          </a:p>
        </p:txBody>
      </p:sp>
      <p:sp>
        <p:nvSpPr>
          <p:cNvPr id="50" name="ag_t1"/>
          <p:cNvSpPr txBox="1"/>
          <p:nvPr/>
        </p:nvSpPr>
        <p:spPr>
          <a:xfrm>
            <a:off x="1097280" y="2112264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1700" dirty="0">
                <a:solidFill>
                  <a:srgbClr val="28282D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Solução integrada: HydroSmart, HydroVision e Serviços</a:t>
            </a:r>
            <a:endParaRPr lang="pt-BR" sz="1700" dirty="0"/>
          </a:p>
        </p:txBody>
      </p:sp>
      <p:sp>
        <p:nvSpPr>
          <p:cNvPr id="51" name="ag_l1"/>
          <p:cNvSpPr/>
          <p:nvPr/>
        </p:nvSpPr>
        <p:spPr>
          <a:xfrm>
            <a:off x="1097280" y="2679192"/>
            <a:ext cx="7589520" cy="0"/>
          </a:xfrm>
          <a:prstGeom prst="line">
            <a:avLst/>
          </a:prstGeom>
          <a:noFill/>
          <a:ln w="6350">
            <a:solidFill>
              <a:srgbClr val="28282D">
                <a:alpha val="25000"/>
              </a:srgbClr>
            </a:solidFill>
            <a:prstDash val="solid"/>
          </a:ln>
        </p:spPr>
      </p:sp>
      <p:sp>
        <p:nvSpPr>
          <p:cNvPr id="52" name="ag_c2"/>
          <p:cNvSpPr/>
          <p:nvPr/>
        </p:nvSpPr>
        <p:spPr>
          <a:xfrm>
            <a:off x="457200" y="2843784"/>
            <a:ext cx="420624" cy="420624"/>
          </a:xfrm>
          <a:prstGeom prst="ellipse">
            <a:avLst/>
          </a:prstGeom>
          <a:solidFill>
            <a:srgbClr val="0B2336">
              <a:alpha val="0"/>
            </a:srgbClr>
          </a:solidFill>
          <a:ln w="19050">
            <a:solidFill>
              <a:srgbClr val="00539C"/>
            </a:solidFill>
            <a:prstDash val="solid"/>
          </a:ln>
        </p:spPr>
      </p:sp>
      <p:sp>
        <p:nvSpPr>
          <p:cNvPr id="53" name="ag_n2"/>
          <p:cNvSpPr txBox="1"/>
          <p:nvPr/>
        </p:nvSpPr>
        <p:spPr>
          <a:xfrm>
            <a:off x="457200" y="28437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200" b="1" dirty="0">
                <a:solidFill>
                  <a:srgbClr val="00539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pt-BR" sz="1200" dirty="0"/>
          </a:p>
        </p:txBody>
      </p:sp>
      <p:sp>
        <p:nvSpPr>
          <p:cNvPr id="54" name="ag_t2"/>
          <p:cNvSpPr txBox="1"/>
          <p:nvPr/>
        </p:nvSpPr>
        <p:spPr>
          <a:xfrm>
            <a:off x="1097280" y="2825496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1700" dirty="0">
                <a:solidFill>
                  <a:srgbClr val="28282D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Tecnologia: equipamentos, instalação e plataforma</a:t>
            </a:r>
            <a:endParaRPr lang="pt-BR" sz="1700" dirty="0"/>
          </a:p>
        </p:txBody>
      </p:sp>
      <p:sp>
        <p:nvSpPr>
          <p:cNvPr id="55" name="ag_l2"/>
          <p:cNvSpPr/>
          <p:nvPr/>
        </p:nvSpPr>
        <p:spPr>
          <a:xfrm>
            <a:off x="1097280" y="3392424"/>
            <a:ext cx="7589520" cy="0"/>
          </a:xfrm>
          <a:prstGeom prst="line">
            <a:avLst/>
          </a:prstGeom>
          <a:noFill/>
          <a:ln w="6350">
            <a:solidFill>
              <a:srgbClr val="28282D">
                <a:alpha val="25000"/>
              </a:srgbClr>
            </a:solidFill>
            <a:prstDash val="solid"/>
          </a:ln>
        </p:spPr>
      </p:sp>
      <p:sp>
        <p:nvSpPr>
          <p:cNvPr id="56" name="ag_c3"/>
          <p:cNvSpPr/>
          <p:nvPr/>
        </p:nvSpPr>
        <p:spPr>
          <a:xfrm>
            <a:off x="457200" y="3557016"/>
            <a:ext cx="420624" cy="420624"/>
          </a:xfrm>
          <a:prstGeom prst="ellipse">
            <a:avLst/>
          </a:prstGeom>
          <a:solidFill>
            <a:srgbClr val="0B2336">
              <a:alpha val="0"/>
            </a:srgbClr>
          </a:solidFill>
          <a:ln w="19050">
            <a:solidFill>
              <a:srgbClr val="00539C"/>
            </a:solidFill>
            <a:prstDash val="solid"/>
          </a:ln>
        </p:spPr>
      </p:sp>
      <p:sp>
        <p:nvSpPr>
          <p:cNvPr id="57" name="ag_n3"/>
          <p:cNvSpPr txBox="1"/>
          <p:nvPr/>
        </p:nvSpPr>
        <p:spPr>
          <a:xfrm>
            <a:off x="457200" y="35570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200" b="1" dirty="0">
                <a:solidFill>
                  <a:srgbClr val="00539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pt-BR" sz="1200" dirty="0"/>
          </a:p>
        </p:txBody>
      </p:sp>
      <p:sp>
        <p:nvSpPr>
          <p:cNvPr id="58" name="ag_t3"/>
          <p:cNvSpPr txBox="1"/>
          <p:nvPr/>
        </p:nvSpPr>
        <p:spPr>
          <a:xfrm>
            <a:off x="1097280" y="3538728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1700" dirty="0">
                <a:solidFill>
                  <a:srgbClr val="28282D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Método: serviços especializados e ciclo operacional</a:t>
            </a:r>
            <a:endParaRPr lang="pt-BR" sz="1700" dirty="0"/>
          </a:p>
        </p:txBody>
      </p:sp>
      <p:sp>
        <p:nvSpPr>
          <p:cNvPr id="59" name="ag_l3"/>
          <p:cNvSpPr/>
          <p:nvPr/>
        </p:nvSpPr>
        <p:spPr>
          <a:xfrm>
            <a:off x="1097280" y="4105656"/>
            <a:ext cx="7589520" cy="0"/>
          </a:xfrm>
          <a:prstGeom prst="line">
            <a:avLst/>
          </a:prstGeom>
          <a:noFill/>
          <a:ln w="6350">
            <a:solidFill>
              <a:srgbClr val="28282D">
                <a:alpha val="25000"/>
              </a:srgbClr>
            </a:solidFill>
            <a:prstDash val="solid"/>
          </a:ln>
        </p:spPr>
      </p:sp>
      <p:sp>
        <p:nvSpPr>
          <p:cNvPr id="60" name="ag_c4"/>
          <p:cNvSpPr/>
          <p:nvPr/>
        </p:nvSpPr>
        <p:spPr>
          <a:xfrm>
            <a:off x="457200" y="4270248"/>
            <a:ext cx="420624" cy="420624"/>
          </a:xfrm>
          <a:prstGeom prst="ellipse">
            <a:avLst/>
          </a:prstGeom>
          <a:solidFill>
            <a:srgbClr val="0B2336">
              <a:alpha val="0"/>
            </a:srgbClr>
          </a:solidFill>
          <a:ln w="19050">
            <a:solidFill>
              <a:srgbClr val="00539C"/>
            </a:solidFill>
            <a:prstDash val="solid"/>
          </a:ln>
        </p:spPr>
      </p:sp>
      <p:sp>
        <p:nvSpPr>
          <p:cNvPr id="61" name="ag_n4"/>
          <p:cNvSpPr txBox="1"/>
          <p:nvPr/>
        </p:nvSpPr>
        <p:spPr>
          <a:xfrm>
            <a:off x="457200" y="42702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200" b="1" dirty="0">
                <a:solidFill>
                  <a:srgbClr val="00539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pt-BR" sz="1200" dirty="0"/>
          </a:p>
        </p:txBody>
      </p:sp>
      <p:sp>
        <p:nvSpPr>
          <p:cNvPr id="62" name="ag_t4"/>
          <p:cNvSpPr txBox="1"/>
          <p:nvPr/>
        </p:nvSpPr>
        <p:spPr>
          <a:xfrm>
            <a:off x="1097280" y="42519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1700" dirty="0">
                <a:solidFill>
                  <a:srgbClr val="28282D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Valor: ganhos, aplicações e diferenciais</a:t>
            </a:r>
            <a:endParaRPr lang="pt-BR" sz="1700" dirty="0"/>
          </a:p>
        </p:txBody>
      </p:sp>
      <p:sp>
        <p:nvSpPr>
          <p:cNvPr id="63" name="ag_l4"/>
          <p:cNvSpPr/>
          <p:nvPr/>
        </p:nvSpPr>
        <p:spPr>
          <a:xfrm>
            <a:off x="1097280" y="4818888"/>
            <a:ext cx="7589520" cy="0"/>
          </a:xfrm>
          <a:prstGeom prst="line">
            <a:avLst/>
          </a:prstGeom>
          <a:noFill/>
          <a:ln w="6350">
            <a:solidFill>
              <a:srgbClr val="28282D">
                <a:alpha val="25000"/>
              </a:srgbClr>
            </a:solidFill>
            <a:prstDash val="solid"/>
          </a:ln>
        </p:spPr>
      </p:sp>
      <p:sp>
        <p:nvSpPr>
          <p:cNvPr id="64" name="ag_c5"/>
          <p:cNvSpPr/>
          <p:nvPr/>
        </p:nvSpPr>
        <p:spPr>
          <a:xfrm>
            <a:off x="457200" y="4983480"/>
            <a:ext cx="420624" cy="420624"/>
          </a:xfrm>
          <a:prstGeom prst="ellipse">
            <a:avLst/>
          </a:prstGeom>
          <a:solidFill>
            <a:srgbClr val="0B2336">
              <a:alpha val="0"/>
            </a:srgbClr>
          </a:solidFill>
          <a:ln w="19050">
            <a:solidFill>
              <a:srgbClr val="00539C"/>
            </a:solidFill>
            <a:prstDash val="solid"/>
          </a:ln>
        </p:spPr>
      </p:sp>
      <p:sp>
        <p:nvSpPr>
          <p:cNvPr id="65" name="ag_n5"/>
          <p:cNvSpPr txBox="1"/>
          <p:nvPr/>
        </p:nvSpPr>
        <p:spPr>
          <a:xfrm>
            <a:off x="457200" y="49834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200" b="1" dirty="0">
                <a:solidFill>
                  <a:srgbClr val="00539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06</a:t>
            </a:r>
            <a:endParaRPr lang="pt-BR" sz="1200" dirty="0"/>
          </a:p>
        </p:txBody>
      </p:sp>
      <p:sp>
        <p:nvSpPr>
          <p:cNvPr id="66" name="ag_t5"/>
          <p:cNvSpPr txBox="1"/>
          <p:nvPr/>
        </p:nvSpPr>
        <p:spPr>
          <a:xfrm>
            <a:off x="1097280" y="496519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1700" dirty="0">
                <a:solidFill>
                  <a:srgbClr val="28282D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Próximo passo</a:t>
            </a:r>
            <a:endParaRPr lang="pt-BR" sz="1700" dirty="0"/>
          </a:p>
        </p:txBody>
      </p:sp>
      <p:sp>
        <p:nvSpPr>
          <p:cNvPr id="67" name="ag_l5"/>
          <p:cNvSpPr/>
          <p:nvPr/>
        </p:nvSpPr>
        <p:spPr>
          <a:xfrm>
            <a:off x="1097280" y="5532120"/>
            <a:ext cx="7589520" cy="0"/>
          </a:xfrm>
          <a:prstGeom prst="line">
            <a:avLst/>
          </a:prstGeom>
          <a:noFill/>
          <a:ln w="6350">
            <a:solidFill>
              <a:srgbClr val="28282D">
                <a:alpha val="25000"/>
              </a:srgbClr>
            </a:solidFill>
            <a:prstDash val="solid"/>
          </a:ln>
        </p:spPr>
      </p:sp>
      <p:sp>
        <p:nvSpPr>
          <p:cNvPr id="6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07040" y="6254496"/>
            <a:ext cx="13716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28282D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1" lang="pt-BR"/>
              <a:t>2</a:t>
            </a:fld>
            <a:endParaRPr lang="pt-BR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:p159="http://schemas.microsoft.com/office/powerpoint/2015/09/main" Requires="p159">
      <p:transition spd="slow" p14:dur="900">
        <p159:morph option="byObjec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5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.5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3" presetClass="entr" presetSubtype="16" fill="hold" grpId="0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5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.5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0" nodeType="withEffect">
                                  <p:stCondLst>
                                    <p:cond delay="19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4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3" presetClass="entr" presetSubtype="16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4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5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4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.5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4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53" presetClass="entr" presetSubtype="16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4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5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4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.5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45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53" presetClass="entr" presetSubtype="16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4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5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4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.5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3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grpId="0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45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8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53" presetClass="entr" presetSubtype="16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4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5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4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.5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73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3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8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45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8" fill="hold" grpId="0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  <p:bldP spid="45" grpId="0"/>
      <p:bldP spid="46" grpId="0"/>
      <p:bldP spid="47" grpId="0"/>
      <p:bldP spid="48" grpId="0"/>
      <p:bldP spid="49" grpId="0"/>
      <p:bldP spid="50" grpId="0"/>
      <p:bldP spid="51" grpId="0"/>
      <p:bldP spid="52" grpId="0"/>
      <p:bldP spid="53" grpId="0"/>
      <p:bldP spid="54" grpId="0"/>
      <p:bldP spid="55" grpId="0"/>
      <p:bldP spid="56" grpId="0"/>
      <p:bldP spid="57" grpId="0"/>
      <p:bldP spid="58" grpId="0"/>
      <p:bldP spid="59" grpId="0"/>
      <p:bldP spid="60" grpId="0"/>
      <p:bldP spid="61" grpId="0"/>
      <p:bldP spid="62" grpId="0"/>
      <p:bldP spid="63" grpId="0"/>
      <p:bldP spid="64" grpId="0"/>
      <p:bldP spid="65" grpId="0"/>
      <p:bldP spid="66" grpId="0"/>
      <p:bldP spid="6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panel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D8E4EC"/>
          </a:solidFill>
          <a:ln w="12700">
            <a:solidFill>
              <a:srgbClr val="D8E4EC"/>
            </a:solidFill>
            <a:prstDash val="solid"/>
          </a:ln>
        </p:spPr>
      </p:sp>
      <p:pic>
        <p:nvPicPr>
          <p:cNvPr id="3" name="!!blk_00" descr="img2/tiles/tile_r01_c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74520" y="3017520"/>
            <a:ext cx="384048" cy="384048"/>
          </a:xfrm>
          <a:prstGeom prst="rect">
            <a:avLst/>
          </a:prstGeom>
        </p:spPr>
      </p:pic>
      <p:pic>
        <p:nvPicPr>
          <p:cNvPr id="4" name="!!blk_01" descr="img2/tiles/tile_r01_c0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" y="3017520"/>
            <a:ext cx="384048" cy="384048"/>
          </a:xfrm>
          <a:prstGeom prst="rect">
            <a:avLst/>
          </a:prstGeom>
        </p:spPr>
      </p:pic>
      <p:pic>
        <p:nvPicPr>
          <p:cNvPr id="5" name="!!blk_02" descr="img2/tiles/tile_r03_c04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8568" y="3785616"/>
            <a:ext cx="384048" cy="384048"/>
          </a:xfrm>
          <a:prstGeom prst="rect">
            <a:avLst/>
          </a:prstGeom>
        </p:spPr>
      </p:pic>
      <p:pic>
        <p:nvPicPr>
          <p:cNvPr id="6" name="!!blk_03" descr="img2/tiles/tile_r03_c10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5720" y="3785616"/>
            <a:ext cx="384048" cy="384048"/>
          </a:xfrm>
          <a:prstGeom prst="rect">
            <a:avLst/>
          </a:prstGeom>
        </p:spPr>
      </p:pic>
      <p:pic>
        <p:nvPicPr>
          <p:cNvPr id="7" name="!!blk_04" descr="img2/tiles/tile_r04_c04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8568" y="4169664"/>
            <a:ext cx="384048" cy="384048"/>
          </a:xfrm>
          <a:prstGeom prst="rect">
            <a:avLst/>
          </a:prstGeom>
        </p:spPr>
      </p:pic>
      <p:pic>
        <p:nvPicPr>
          <p:cNvPr id="8" name="!!blk_05" descr="img2/tiles/tile_r04_c05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74520" y="4169664"/>
            <a:ext cx="384048" cy="384048"/>
          </a:xfrm>
          <a:prstGeom prst="rect">
            <a:avLst/>
          </a:prstGeom>
        </p:spPr>
      </p:pic>
      <p:pic>
        <p:nvPicPr>
          <p:cNvPr id="9" name="!!blk_06" descr="img2/tiles/tile_r04_c07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6424" y="4169664"/>
            <a:ext cx="384048" cy="384048"/>
          </a:xfrm>
          <a:prstGeom prst="rect">
            <a:avLst/>
          </a:prstGeom>
        </p:spPr>
      </p:pic>
      <p:pic>
        <p:nvPicPr>
          <p:cNvPr id="10" name="!!blk_07" descr="img2/tiles/tile_r04_c08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2376" y="4169664"/>
            <a:ext cx="384048" cy="384048"/>
          </a:xfrm>
          <a:prstGeom prst="rect">
            <a:avLst/>
          </a:prstGeom>
        </p:spPr>
      </p:pic>
      <p:pic>
        <p:nvPicPr>
          <p:cNvPr id="11" name="!!blk_08" descr="img2/tiles/tile_r05_c04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58568" y="4553712"/>
            <a:ext cx="384048" cy="384048"/>
          </a:xfrm>
          <a:prstGeom prst="rect">
            <a:avLst/>
          </a:prstGeom>
        </p:spPr>
      </p:pic>
      <p:pic>
        <p:nvPicPr>
          <p:cNvPr id="12" name="!!blk_09" descr="img2/tiles/tile_r05_c05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74520" y="4553712"/>
            <a:ext cx="384048" cy="384048"/>
          </a:xfrm>
          <a:prstGeom prst="rect">
            <a:avLst/>
          </a:prstGeom>
        </p:spPr>
      </p:pic>
      <p:pic>
        <p:nvPicPr>
          <p:cNvPr id="13" name="!!blk_10" descr="img2/tiles/tile_r05_c06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90472" y="4553712"/>
            <a:ext cx="384048" cy="384048"/>
          </a:xfrm>
          <a:prstGeom prst="rect">
            <a:avLst/>
          </a:prstGeom>
        </p:spPr>
      </p:pic>
      <p:pic>
        <p:nvPicPr>
          <p:cNvPr id="14" name="!!blk_11" descr="img2/tiles/tile_r05_c07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06424" y="4553712"/>
            <a:ext cx="384048" cy="384048"/>
          </a:xfrm>
          <a:prstGeom prst="rect">
            <a:avLst/>
          </a:prstGeom>
        </p:spPr>
      </p:pic>
      <p:pic>
        <p:nvPicPr>
          <p:cNvPr id="15" name="!!blk_12" descr="img2/tiles/tile_r05_c08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22376" y="4553712"/>
            <a:ext cx="384048" cy="384048"/>
          </a:xfrm>
          <a:prstGeom prst="rect">
            <a:avLst/>
          </a:prstGeom>
        </p:spPr>
      </p:pic>
      <p:pic>
        <p:nvPicPr>
          <p:cNvPr id="16" name="!!blk_13" descr="img2/tiles/tile_r06_c02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026664" y="4937760"/>
            <a:ext cx="384048" cy="384048"/>
          </a:xfrm>
          <a:prstGeom prst="rect">
            <a:avLst/>
          </a:prstGeom>
        </p:spPr>
      </p:pic>
      <p:pic>
        <p:nvPicPr>
          <p:cNvPr id="17" name="!!blk_14" descr="img2/tiles/tile_r06_c04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258568" y="4937760"/>
            <a:ext cx="384048" cy="384048"/>
          </a:xfrm>
          <a:prstGeom prst="rect">
            <a:avLst/>
          </a:prstGeom>
        </p:spPr>
      </p:pic>
      <p:pic>
        <p:nvPicPr>
          <p:cNvPr id="18" name="!!blk_15" descr="img2/tiles/tile_r06_c05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874520" y="4937760"/>
            <a:ext cx="384048" cy="384048"/>
          </a:xfrm>
          <a:prstGeom prst="rect">
            <a:avLst/>
          </a:prstGeom>
        </p:spPr>
      </p:pic>
      <p:pic>
        <p:nvPicPr>
          <p:cNvPr id="19" name="!!blk_16" descr="img2/tiles/tile_r06_c06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490472" y="4937760"/>
            <a:ext cx="384048" cy="384048"/>
          </a:xfrm>
          <a:prstGeom prst="rect">
            <a:avLst/>
          </a:prstGeom>
        </p:spPr>
      </p:pic>
      <p:pic>
        <p:nvPicPr>
          <p:cNvPr id="20" name="!!blk_17" descr="img2/tiles/tile_r06_c07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106424" y="4937760"/>
            <a:ext cx="384048" cy="384048"/>
          </a:xfrm>
          <a:prstGeom prst="rect">
            <a:avLst/>
          </a:prstGeom>
        </p:spPr>
      </p:pic>
      <p:pic>
        <p:nvPicPr>
          <p:cNvPr id="21" name="!!blk_18" descr="img2/tiles/tile_r06_c10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-45720" y="4937760"/>
            <a:ext cx="384048" cy="384048"/>
          </a:xfrm>
          <a:prstGeom prst="rect">
            <a:avLst/>
          </a:prstGeom>
        </p:spPr>
      </p:pic>
      <p:pic>
        <p:nvPicPr>
          <p:cNvPr id="22" name="!!blk_19" descr="img2/tiles/tile_r07_c02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026664" y="5321808"/>
            <a:ext cx="384048" cy="384048"/>
          </a:xfrm>
          <a:prstGeom prst="rect">
            <a:avLst/>
          </a:prstGeom>
        </p:spPr>
      </p:pic>
      <p:pic>
        <p:nvPicPr>
          <p:cNvPr id="23" name="!!blk_20" descr="img2/tiles/tile_r07_c04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258568" y="5321808"/>
            <a:ext cx="384048" cy="384048"/>
          </a:xfrm>
          <a:prstGeom prst="rect">
            <a:avLst/>
          </a:prstGeom>
        </p:spPr>
      </p:pic>
      <p:pic>
        <p:nvPicPr>
          <p:cNvPr id="24" name="!!blk_21" descr="img2/tiles/tile_r07_c05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874520" y="5321808"/>
            <a:ext cx="384048" cy="384048"/>
          </a:xfrm>
          <a:prstGeom prst="rect">
            <a:avLst/>
          </a:prstGeom>
        </p:spPr>
      </p:pic>
      <p:pic>
        <p:nvPicPr>
          <p:cNvPr id="25" name="!!blk_22" descr="img2/tiles/tile_r07_c06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490472" y="5321808"/>
            <a:ext cx="384048" cy="384048"/>
          </a:xfrm>
          <a:prstGeom prst="rect">
            <a:avLst/>
          </a:prstGeom>
        </p:spPr>
      </p:pic>
      <p:pic>
        <p:nvPicPr>
          <p:cNvPr id="26" name="!!blk_23" descr="img2/tiles/tile_r07_c07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106424" y="5321808"/>
            <a:ext cx="384048" cy="384048"/>
          </a:xfrm>
          <a:prstGeom prst="rect">
            <a:avLst/>
          </a:prstGeom>
        </p:spPr>
      </p:pic>
      <p:pic>
        <p:nvPicPr>
          <p:cNvPr id="27" name="!!blk_24" descr="img2/tiles/tile_r08_c00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3794760" y="5705856"/>
            <a:ext cx="384048" cy="384048"/>
          </a:xfrm>
          <a:prstGeom prst="rect">
            <a:avLst/>
          </a:prstGeom>
        </p:spPr>
      </p:pic>
      <p:pic>
        <p:nvPicPr>
          <p:cNvPr id="28" name="!!blk_25" descr="img2/tiles/tile_r08_c03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2642616" y="5705856"/>
            <a:ext cx="384048" cy="384048"/>
          </a:xfrm>
          <a:prstGeom prst="rect">
            <a:avLst/>
          </a:prstGeom>
        </p:spPr>
      </p:pic>
      <p:pic>
        <p:nvPicPr>
          <p:cNvPr id="29" name="!!blk_26" descr="img2/tiles/tile_r08_c04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2258568" y="5705856"/>
            <a:ext cx="384048" cy="384048"/>
          </a:xfrm>
          <a:prstGeom prst="rect">
            <a:avLst/>
          </a:prstGeom>
        </p:spPr>
      </p:pic>
      <p:pic>
        <p:nvPicPr>
          <p:cNvPr id="30" name="!!blk_27" descr="img2/tiles/tile_r08_c05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874520" y="5705856"/>
            <a:ext cx="384048" cy="384048"/>
          </a:xfrm>
          <a:prstGeom prst="rect">
            <a:avLst/>
          </a:prstGeom>
        </p:spPr>
      </p:pic>
      <p:pic>
        <p:nvPicPr>
          <p:cNvPr id="31" name="!!blk_28" descr="img2/tiles/tile_r08_c06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490472" y="5705856"/>
            <a:ext cx="384048" cy="384048"/>
          </a:xfrm>
          <a:prstGeom prst="rect">
            <a:avLst/>
          </a:prstGeom>
        </p:spPr>
      </p:pic>
      <p:pic>
        <p:nvPicPr>
          <p:cNvPr id="32" name="!!blk_29" descr="img2/tiles/tile_r08_c07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106424" y="5705856"/>
            <a:ext cx="384048" cy="384048"/>
          </a:xfrm>
          <a:prstGeom prst="rect">
            <a:avLst/>
          </a:prstGeom>
        </p:spPr>
      </p:pic>
      <p:pic>
        <p:nvPicPr>
          <p:cNvPr id="33" name="!!blk_30" descr="img2/tiles/tile_r08_c08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722376" y="5705856"/>
            <a:ext cx="384048" cy="384048"/>
          </a:xfrm>
          <a:prstGeom prst="rect">
            <a:avLst/>
          </a:prstGeom>
        </p:spPr>
      </p:pic>
      <p:pic>
        <p:nvPicPr>
          <p:cNvPr id="34" name="!!blk_31" descr="img2/tiles/tile_r08_c09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338328" y="5705856"/>
            <a:ext cx="384048" cy="384048"/>
          </a:xfrm>
          <a:prstGeom prst="rect">
            <a:avLst/>
          </a:prstGeom>
        </p:spPr>
      </p:pic>
      <p:pic>
        <p:nvPicPr>
          <p:cNvPr id="35" name="!!blk_32" descr="img2/tiles/tile_r09_c00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3794760" y="6089904"/>
            <a:ext cx="384048" cy="384048"/>
          </a:xfrm>
          <a:prstGeom prst="rect">
            <a:avLst/>
          </a:prstGeom>
        </p:spPr>
      </p:pic>
      <p:pic>
        <p:nvPicPr>
          <p:cNvPr id="36" name="!!blk_33" descr="img2/tiles/tile_r09_c01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3410712" y="6089904"/>
            <a:ext cx="384048" cy="384048"/>
          </a:xfrm>
          <a:prstGeom prst="rect">
            <a:avLst/>
          </a:prstGeom>
        </p:spPr>
      </p:pic>
      <p:pic>
        <p:nvPicPr>
          <p:cNvPr id="37" name="!!blk_34" descr="img2/tiles/tile_r09_c04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2258568" y="6089904"/>
            <a:ext cx="384048" cy="384048"/>
          </a:xfrm>
          <a:prstGeom prst="rect">
            <a:avLst/>
          </a:prstGeom>
        </p:spPr>
      </p:pic>
      <p:pic>
        <p:nvPicPr>
          <p:cNvPr id="38" name="!!blk_35" descr="img2/tiles/tile_r09_c05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1874520" y="6089904"/>
            <a:ext cx="384048" cy="384048"/>
          </a:xfrm>
          <a:prstGeom prst="rect">
            <a:avLst/>
          </a:prstGeom>
        </p:spPr>
      </p:pic>
      <p:pic>
        <p:nvPicPr>
          <p:cNvPr id="39" name="!!blk_36" descr="img2/tiles/tile_r09_c08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722376" y="6089904"/>
            <a:ext cx="384048" cy="384048"/>
          </a:xfrm>
          <a:prstGeom prst="rect">
            <a:avLst/>
          </a:prstGeom>
        </p:spPr>
      </p:pic>
      <p:pic>
        <p:nvPicPr>
          <p:cNvPr id="40" name="!!blk_37" descr="img2/tiles/tile_r10_c03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2642616" y="6473952"/>
            <a:ext cx="384048" cy="384048"/>
          </a:xfrm>
          <a:prstGeom prst="rect">
            <a:avLst/>
          </a:prstGeom>
        </p:spPr>
      </p:pic>
      <p:pic>
        <p:nvPicPr>
          <p:cNvPr id="41" name="!!blk_38" descr="img2/tiles/tile_r10_c06.pn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1490472" y="6473952"/>
            <a:ext cx="384048" cy="384048"/>
          </a:xfrm>
          <a:prstGeom prst="rect">
            <a:avLst/>
          </a:prstGeom>
        </p:spPr>
      </p:pic>
      <p:sp>
        <p:nvSpPr>
          <p:cNvPr id="42" name="!!label"/>
          <p:cNvSpPr txBox="1"/>
          <p:nvPr/>
        </p:nvSpPr>
        <p:spPr>
          <a:xfrm>
            <a:off x="4846320" y="19659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1400" i="1" dirty="0">
                <a:solidFill>
                  <a:srgbClr val="5B6B75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Vamos conversar?</a:t>
            </a:r>
            <a:endParaRPr lang="pt-BR" sz="1400" dirty="0"/>
          </a:p>
        </p:txBody>
      </p:sp>
      <p:sp>
        <p:nvSpPr>
          <p:cNvPr id="43" name="!!title"/>
          <p:cNvSpPr txBox="1"/>
          <p:nvPr/>
        </p:nvSpPr>
        <p:spPr>
          <a:xfrm>
            <a:off x="4846320" y="2286000"/>
            <a:ext cx="6858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4000" b="1" dirty="0">
                <a:solidFill>
                  <a:srgbClr val="2828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Obrigado.</a:t>
            </a:r>
            <a:endParaRPr lang="pt-BR" sz="4000" dirty="0"/>
          </a:p>
        </p:txBody>
      </p:sp>
      <p:pic>
        <p:nvPicPr>
          <p:cNvPr id="44" name="ct_i0" descr="icons/FiGlobe_white.png">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4864608" y="3493008"/>
            <a:ext cx="274320" cy="274320"/>
          </a:xfrm>
          <a:prstGeom prst="rect">
            <a:avLst/>
          </a:prstGeom>
        </p:spPr>
      </p:pic>
      <p:sp>
        <p:nvSpPr>
          <p:cNvPr id="45" name="ct_t0"/>
          <p:cNvSpPr txBox="1"/>
          <p:nvPr/>
        </p:nvSpPr>
        <p:spPr>
          <a:xfrm>
            <a:off x="5303520" y="3429000"/>
            <a:ext cx="5943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1600" dirty="0">
                <a:solidFill>
                  <a:srgbClr val="28282D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hydroforce.com.br</a:t>
            </a:r>
            <a:endParaRPr lang="pt-BR" sz="1600" dirty="0"/>
          </a:p>
        </p:txBody>
      </p:sp>
      <p:sp>
        <p:nvSpPr>
          <p:cNvPr id="50" name="!!rule"/>
          <p:cNvSpPr/>
          <p:nvPr/>
        </p:nvSpPr>
        <p:spPr>
          <a:xfrm>
            <a:off x="4206240" y="6382512"/>
            <a:ext cx="7985455" cy="0"/>
          </a:xfrm>
          <a:prstGeom prst="line">
            <a:avLst/>
          </a:prstGeom>
          <a:noFill/>
          <a:ln w="12700">
            <a:solidFill>
              <a:srgbClr val="28282D">
                <a:alpha val="45000"/>
              </a:srgbClr>
            </a:solidFill>
            <a:prstDash val="solid"/>
          </a:ln>
        </p:spPr>
      </p:sp>
      <p:pic>
        <p:nvPicPr>
          <p:cNvPr id="51" name="!!logo" descr="logos/logo_branco.png">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10012680" y="6473952"/>
            <a:ext cx="1947672" cy="28346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xmlns:p159="http://schemas.microsoft.com/office/powerpoint/2015/09/main" Requires="p159">
      <p:transition spd="slow" p14:dur="900">
        <p159:morph option="byObjec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8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4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53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4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7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335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37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405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475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545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615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685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755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79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825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895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965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1035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107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1105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1175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121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1245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128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1315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1385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142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1455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149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1525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156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1595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163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4" grpId="0"/>
      <p:bldP spid="45" grpId="0"/>
      <p:bldP spid="46" grpId="0"/>
      <p:bldP spid="47" grpId="0"/>
      <p:bldP spid="48" grpId="0"/>
      <p:bldP spid="49" grpId="0"/>
      <p:bldP spid="50" grpId="0"/>
      <p:bldP spid="51" grpId="0"/>
      <p:bldP spid="3" grpId="0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/>
      <p:bldP spid="39" grpId="0"/>
      <p:bldP spid="40" grpId="0"/>
      <p:bldP spid="41" grpId="0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07040" y="6254496"/>
            <a:ext cx="13716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28282D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1" lang="pt-BR"/>
              <a:t>2</a:t>
            </a:fld>
            <a:endParaRPr lang="pt-BR"/>
          </a:p>
        </p:txBody>
      </p:sp>
      <p:sp>
        <p:nvSpPr>
          <p:cNvPr id="69" name="!!label"/>
          <p:cNvSpPr txBox="1"/>
          <p:nvPr/>
        </p:nvSpPr>
        <p:spPr>
          <a:xfrm>
            <a:off x="411480" y="292608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marL="0" indent="0">
              <a:buNone/>
            </a:pPr>
            <a:r>
              <a:rPr sz="1300" b="0" i="1" lang="pt-BR">
                <a:solidFill>
                  <a:srgbClr val="5B6B75"/>
                </a:solidFill>
                <a:latin typeface="Work Sans"/>
                <a:ea typeface="Work Sans"/>
                <a:cs typeface="Work Sans"/>
              </a:rPr>
              <a:t>O desafio</a:t>
            </a:r>
            <a:endParaRPr lang="pt-BR" sz="1300"/>
          </a:p>
        </p:txBody>
      </p:sp>
      <p:sp>
        <p:nvSpPr>
          <p:cNvPr id="70" name="!!title"/>
          <p:cNvSpPr txBox="1"/>
          <p:nvPr/>
        </p:nvSpPr>
        <p:spPr>
          <a:xfrm>
            <a:off x="411480" y="530352"/>
            <a:ext cx="11338560" cy="566928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marL="0" indent="0">
              <a:buNone/>
            </a:pPr>
            <a:r>
              <a:rPr sz="2500" b="1" i="0" lang="pt-BR">
                <a:solidFill>
                  <a:srgbClr val="28282D"/>
                </a:solidFill>
                <a:latin typeface="Montserrat"/>
                <a:ea typeface="Montserrat"/>
                <a:cs typeface="Montserrat"/>
              </a:rPr>
              <a:t>PERDA DE ÁGUA: DESAFIO OPERACIONAL DE ESCALA NACIONAL</a:t>
            </a:r>
            <a:endParaRPr lang="pt-BR" sz="2500"/>
          </a:p>
        </p:txBody>
      </p:sp>
      <p:sp>
        <p:nvSpPr>
          <p:cNvPr id="71" name="stat_n0"/>
          <p:cNvSpPr txBox="1"/>
          <p:nvPr/>
        </p:nvSpPr>
        <p:spPr>
          <a:xfrm>
            <a:off x="411480" y="1554480"/>
            <a:ext cx="2377440" cy="960120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marL="0" indent="0">
              <a:buNone/>
            </a:pPr>
            <a:r>
              <a:rPr sz="4200" b="1" i="0" lang="pt-BR">
                <a:solidFill>
                  <a:srgbClr val="00539C"/>
                </a:solidFill>
                <a:latin typeface="Montserrat"/>
                <a:ea typeface="Montserrat"/>
                <a:cs typeface="Montserrat"/>
              </a:rPr>
              <a:t>37,8%</a:t>
            </a:r>
            <a:endParaRPr lang="pt-BR" sz="4200"/>
          </a:p>
        </p:txBody>
      </p:sp>
      <p:sp>
        <p:nvSpPr>
          <p:cNvPr id="72" name="stat_l0"/>
          <p:cNvSpPr txBox="1"/>
          <p:nvPr/>
        </p:nvSpPr>
        <p:spPr>
          <a:xfrm>
            <a:off x="411480" y="2560320"/>
            <a:ext cx="2240280" cy="86868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marL="0" indent="0">
              <a:buNone/>
            </a:pPr>
            <a:r>
              <a:rPr sz="1400" b="0" i="0" lang="pt-BR">
                <a:solidFill>
                  <a:srgbClr val="28282D"/>
                </a:solidFill>
                <a:latin typeface="Work Sans"/>
                <a:ea typeface="Work Sans"/>
                <a:cs typeface="Work Sans"/>
              </a:rPr>
              <a:t>da água tratada é perdida na distribuição</a:t>
            </a:r>
            <a:endParaRPr lang="pt-BR" sz="1400"/>
          </a:p>
        </p:txBody>
      </p:sp>
      <p:sp>
        <p:nvSpPr>
          <p:cNvPr id="73" name="stat_n1"/>
          <p:cNvSpPr txBox="1"/>
          <p:nvPr/>
        </p:nvSpPr>
        <p:spPr>
          <a:xfrm>
            <a:off x="2898648" y="1554480"/>
            <a:ext cx="2377440" cy="960120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marL="0" indent="0">
              <a:buNone/>
            </a:pPr>
            <a:r>
              <a:rPr sz="4200" b="1" i="0" lang="pt-BR">
                <a:solidFill>
                  <a:srgbClr val="00539C"/>
                </a:solidFill>
                <a:latin typeface="Montserrat"/>
                <a:ea typeface="Montserrat"/>
                <a:cs typeface="Montserrat"/>
              </a:rPr>
              <a:t>54 mi</a:t>
            </a:r>
            <a:endParaRPr lang="pt-BR" sz="4200"/>
          </a:p>
        </p:txBody>
      </p:sp>
      <p:sp>
        <p:nvSpPr>
          <p:cNvPr id="74" name="stat_l1"/>
          <p:cNvSpPr txBox="1"/>
          <p:nvPr/>
        </p:nvSpPr>
        <p:spPr>
          <a:xfrm>
            <a:off x="2898648" y="2560320"/>
            <a:ext cx="2240280" cy="86868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marL="0" indent="0">
              <a:buNone/>
            </a:pPr>
            <a:r>
              <a:rPr sz="1400" b="0" i="0" lang="pt-BR">
                <a:solidFill>
                  <a:srgbClr val="28282D"/>
                </a:solidFill>
                <a:latin typeface="Work Sans"/>
                <a:ea typeface="Work Sans"/>
                <a:cs typeface="Work Sans"/>
              </a:rPr>
              <a:t>de brasileiros poderiam ser abastecidos por um ano</a:t>
            </a:r>
            <a:endParaRPr lang="pt-BR" sz="1400"/>
          </a:p>
        </p:txBody>
      </p:sp>
      <p:sp>
        <p:nvSpPr>
          <p:cNvPr id="75" name="stat_n2"/>
          <p:cNvSpPr txBox="1"/>
          <p:nvPr/>
        </p:nvSpPr>
        <p:spPr>
          <a:xfrm>
            <a:off x="5385816" y="1554480"/>
            <a:ext cx="2377440" cy="960120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marL="0" indent="0">
              <a:buNone/>
            </a:pPr>
            <a:r>
              <a:rPr sz="4200" b="1" i="0" lang="pt-BR">
                <a:solidFill>
                  <a:srgbClr val="00539C"/>
                </a:solidFill>
                <a:latin typeface="Montserrat"/>
                <a:ea typeface="Montserrat"/>
                <a:cs typeface="Montserrat"/>
              </a:rPr>
              <a:t>25%</a:t>
            </a:r>
            <a:endParaRPr lang="pt-BR" sz="4200"/>
          </a:p>
        </p:txBody>
      </p:sp>
      <p:sp>
        <p:nvSpPr>
          <p:cNvPr id="76" name="stat_l2"/>
          <p:cNvSpPr txBox="1"/>
          <p:nvPr/>
        </p:nvSpPr>
        <p:spPr>
          <a:xfrm>
            <a:off x="5385816" y="2560320"/>
            <a:ext cx="2240280" cy="86868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marL="0" indent="0">
              <a:buNone/>
            </a:pPr>
            <a:r>
              <a:rPr sz="1400" b="0" i="0" lang="pt-BR">
                <a:solidFill>
                  <a:srgbClr val="28282D"/>
                </a:solidFill>
                <a:latin typeface="Work Sans"/>
                <a:ea typeface="Work Sans"/>
                <a:cs typeface="Work Sans"/>
              </a:rPr>
              <a:t>é a referência federal máxima para perdas até 2033</a:t>
            </a:r>
            <a:endParaRPr lang="pt-BR" sz="1400"/>
          </a:p>
        </p:txBody>
      </p:sp>
      <p:sp>
        <p:nvSpPr>
          <p:cNvPr id="77" name="callout"/>
          <p:cNvSpPr/>
          <p:nvPr/>
        </p:nvSpPr>
        <p:spPr>
          <a:xfrm>
            <a:off x="411480" y="3886200"/>
            <a:ext cx="7360920" cy="1920240"/>
          </a:xfrm>
          <a:prstGeom prst="roundRect">
            <a:avLst>
              <a:gd name="adj" fmla="val 6000"/>
            </a:avLst>
          </a:prstGeom>
          <a:solidFill>
            <a:srgbClr val="F2F0EB"/>
          </a:solidFill>
          <a:ln w="12700">
            <a:solidFill>
              <a:srgbClr val="D5D8D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" name="callout_ico_c"/>
          <p:cNvSpPr/>
          <p:nvPr/>
        </p:nvSpPr>
        <p:spPr>
          <a:xfrm>
            <a:off x="713232" y="4498848"/>
            <a:ext cx="685800" cy="685800"/>
          </a:xfrm>
          <a:prstGeom prst="ellipse">
            <a:avLst/>
          </a:prstGeom>
          <a:solidFill>
            <a:srgbClr val="00539C"/>
          </a:solidFill>
          <a:ln w="12700">
            <a:solidFill>
              <a:srgbClr val="00539C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79" name="callout_ico_ic" descr="dropl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4663440"/>
            <a:ext cx="356616" cy="356616"/>
          </a:xfrm>
          <a:prstGeom prst="rect">
            <a:avLst/>
          </a:prstGeom>
        </p:spPr>
      </p:pic>
      <p:sp>
        <p:nvSpPr>
          <p:cNvPr id="80" name="callout_txt"/>
          <p:cNvSpPr txBox="1"/>
          <p:nvPr/>
        </p:nvSpPr>
        <p:spPr>
          <a:xfrm>
            <a:off x="1691640" y="4069080"/>
            <a:ext cx="5852160" cy="1554480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marL="0" indent="0">
              <a:buNone/>
            </a:pPr>
            <a:r>
              <a:rPr sz="1600" b="0" i="0" lang="pt-BR">
                <a:solidFill>
                  <a:srgbClr val="28282D"/>
                </a:solidFill>
                <a:latin typeface="Work Sans"/>
                <a:ea typeface="Work Sans"/>
                <a:cs typeface="Work Sans"/>
              </a:rPr>
              <a:t>Mais eficiência hídrica começa com capacidade de </a:t>
            </a:r>
            <a:r>
              <a:rPr sz="1600" b="1" i="0" lang="pt-BR">
                <a:solidFill>
                  <a:srgbClr val="28282D"/>
                </a:solidFill>
                <a:latin typeface="Work Sans"/>
                <a:ea typeface="Work Sans"/>
                <a:cs typeface="Work Sans"/>
              </a:rPr>
              <a:t>enxergar, priorizar e fechar</a:t>
            </a:r>
            <a:r>
              <a:rPr sz="1600" b="0" i="0" lang="pt-BR">
                <a:solidFill>
                  <a:srgbClr val="28282D"/>
                </a:solidFill>
                <a:latin typeface="Work Sans"/>
                <a:ea typeface="Work Sans"/>
                <a:cs typeface="Work Sans"/>
              </a:rPr>
              <a:t> cada ocorrência.</a:t>
            </a:r>
            <a:endParaRPr lang="pt-BR" sz="1600"/>
          </a:p>
        </p:txBody>
      </p:sp>
      <p:pic>
        <p:nvPicPr>
          <p:cNvPr id="81" name="img_burst" descr="pipe_burst_c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8431" y="1371600"/>
            <a:ext cx="3749039" cy="4434840"/>
          </a:xfrm>
          <a:prstGeom prst="roundRect">
            <a:avLst>
              <a:gd name="adj" fmla="val 3200"/>
            </a:avLst>
          </a:prstGeom>
        </p:spPr>
      </p:pic>
      <p:sp>
        <p:nvSpPr>
          <p:cNvPr id="82" name="note"/>
          <p:cNvSpPr txBox="1"/>
          <p:nvPr/>
        </p:nvSpPr>
        <p:spPr>
          <a:xfrm>
            <a:off x="8028431" y="5852160"/>
            <a:ext cx="3749039" cy="246888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algn="ctr" marL="0" indent="0">
              <a:buNone/>
            </a:pPr>
            <a:r>
              <a:rPr sz="1100" b="0" i="1" lang="pt-BR">
                <a:solidFill>
                  <a:srgbClr val="6B7680"/>
                </a:solidFill>
                <a:latin typeface="Work Sans"/>
                <a:ea typeface="Work Sans"/>
                <a:cs typeface="Work Sans"/>
              </a:rPr>
              <a:t>Imagem conceitual</a:t>
            </a:r>
            <a:endParaRPr lang="pt-BR" sz="1100"/>
          </a:p>
        </p:txBody>
      </p:sp>
      <p:sp>
        <p:nvSpPr>
          <p:cNvPr id="83" name="source"/>
          <p:cNvSpPr txBox="1"/>
          <p:nvPr/>
        </p:nvSpPr>
        <p:spPr>
          <a:xfrm>
            <a:off x="640080" y="6382512"/>
            <a:ext cx="7223760" cy="201168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marL="0" indent="0">
              <a:buNone/>
            </a:pPr>
            <a:r>
              <a:rPr sz="800" b="0" i="0" lang="pt-BR">
                <a:solidFill>
                  <a:srgbClr val="28282D"/>
                </a:solidFill>
                <a:latin typeface="Work Sans"/>
                <a:ea typeface="Work Sans"/>
                <a:cs typeface="Work Sans"/>
              </a:rPr>
              <a:t>Fonte: Pesquisa FAPESP, jul. 2025 (Trata Brasil/SNIS); meta federal até 2033.</a:t>
            </a:r>
            <a:endParaRPr lang="pt-BR" sz="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07040" y="6254496"/>
            <a:ext cx="13716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28282D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1" lang="pt-BR"/>
              <a:t>2</a:t>
            </a:fld>
            <a:endParaRPr lang="pt-BR"/>
          </a:p>
        </p:txBody>
      </p:sp>
      <p:sp>
        <p:nvSpPr>
          <p:cNvPr id="69" name="!!label"/>
          <p:cNvSpPr txBox="1"/>
          <p:nvPr/>
        </p:nvSpPr>
        <p:spPr>
          <a:xfrm>
            <a:off x="411480" y="292608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marL="0" indent="0">
              <a:buNone/>
            </a:pPr>
            <a:r>
              <a:rPr sz="1300" b="0" i="1" lang="pt-BR">
                <a:solidFill>
                  <a:srgbClr val="5B6B75"/>
                </a:solidFill>
                <a:latin typeface="Work Sans"/>
                <a:ea typeface="Work Sans"/>
                <a:cs typeface="Work Sans"/>
              </a:rPr>
              <a:t>Da suspeita à evidência</a:t>
            </a:r>
            <a:endParaRPr lang="pt-BR" sz="1300"/>
          </a:p>
        </p:txBody>
      </p:sp>
      <p:sp>
        <p:nvSpPr>
          <p:cNvPr id="70" name="!!title"/>
          <p:cNvSpPr txBox="1"/>
          <p:nvPr/>
        </p:nvSpPr>
        <p:spPr>
          <a:xfrm>
            <a:off x="411480" y="530352"/>
            <a:ext cx="11338560" cy="566928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marL="0" indent="0">
              <a:buNone/>
            </a:pPr>
            <a:r>
              <a:rPr sz="2500" b="1" i="0" lang="pt-BR">
                <a:solidFill>
                  <a:srgbClr val="28282D"/>
                </a:solidFill>
                <a:latin typeface="Montserrat"/>
                <a:ea typeface="Montserrat"/>
                <a:cs typeface="Montserrat"/>
              </a:rPr>
              <a:t>ENCONTRAR O VAZAMENTO É SÓ O COMEÇO</a:t>
            </a:r>
            <a:endParaRPr lang="pt-BR" sz="2500"/>
          </a:p>
        </p:txBody>
      </p:sp>
      <p:sp>
        <p:nvSpPr>
          <p:cNvPr id="71" name="subtitle"/>
          <p:cNvSpPr txBox="1"/>
          <p:nvPr/>
        </p:nvSpPr>
        <p:spPr>
          <a:xfrm>
            <a:off x="411480" y="1298448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marL="0" indent="0">
              <a:buNone/>
            </a:pPr>
            <a:r>
              <a:rPr sz="1300" b="0" i="1" lang="pt-BR">
                <a:solidFill>
                  <a:srgbClr val="6B7680"/>
                </a:solidFill>
                <a:latin typeface="Work Sans"/>
                <a:ea typeface="Work Sans"/>
                <a:cs typeface="Work Sans"/>
              </a:rPr>
              <a:t>A eficiência depende de conectar campo, sinais e decisão em um processo único.</a:t>
            </a:r>
            <a:endParaRPr lang="pt-BR" sz="1300"/>
          </a:p>
        </p:txBody>
      </p:sp>
      <p:sp>
        <p:nvSpPr>
          <p:cNvPr id="72" name="pain_c0"/>
          <p:cNvSpPr/>
          <p:nvPr/>
        </p:nvSpPr>
        <p:spPr>
          <a:xfrm>
            <a:off x="411480" y="1783080"/>
            <a:ext cx="3602736" cy="1874519"/>
          </a:xfrm>
          <a:prstGeom prst="roundRect">
            <a:avLst>
              <a:gd name="adj" fmla="val 6000"/>
            </a:avLst>
          </a:prstGeom>
          <a:solidFill>
            <a:srgbClr val="F2F0EB"/>
          </a:solidFill>
          <a:ln w="12700">
            <a:solidFill>
              <a:srgbClr val="D5D8D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" name="pain_n0_c"/>
          <p:cNvSpPr/>
          <p:nvPr/>
        </p:nvSpPr>
        <p:spPr>
          <a:xfrm>
            <a:off x="640080" y="2029967"/>
            <a:ext cx="420624" cy="420624"/>
          </a:xfrm>
          <a:prstGeom prst="ellipse">
            <a:avLst/>
          </a:prstGeom>
          <a:solidFill>
            <a:srgbClr val="00539C"/>
          </a:solidFill>
          <a:ln w="12700">
            <a:solidFill>
              <a:srgbClr val="00539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" name="pain_n0_n"/>
          <p:cNvSpPr txBox="1"/>
          <p:nvPr/>
        </p:nvSpPr>
        <p:spPr>
          <a:xfrm>
            <a:off x="640080" y="2029967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algn="ctr" marL="0" indent="0">
              <a:buNone/>
            </a:pPr>
            <a:r>
              <a:rPr sz="1200" b="1" i="0" lang="pt-BR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01</a:t>
            </a:r>
            <a:endParaRPr lang="pt-BR" sz="1200"/>
          </a:p>
        </p:txBody>
      </p:sp>
      <p:sp>
        <p:nvSpPr>
          <p:cNvPr id="75" name="pain_t0"/>
          <p:cNvSpPr txBox="1"/>
          <p:nvPr/>
        </p:nvSpPr>
        <p:spPr>
          <a:xfrm>
            <a:off x="1188720" y="1965960"/>
            <a:ext cx="2642615" cy="548640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marL="0" indent="0">
              <a:buNone/>
            </a:pPr>
            <a:r>
              <a:rPr sz="1300" b="1" i="0" lang="pt-BR">
                <a:solidFill>
                  <a:srgbClr val="00539C"/>
                </a:solidFill>
                <a:latin typeface="Montserrat"/>
                <a:ea typeface="Montserrat"/>
                <a:cs typeface="Montserrat"/>
              </a:rPr>
              <a:t>Visibilidade em tempo real</a:t>
            </a:r>
            <a:endParaRPr lang="pt-BR" sz="1300"/>
          </a:p>
        </p:txBody>
      </p:sp>
      <p:sp>
        <p:nvSpPr>
          <p:cNvPr id="76" name="pain_d0"/>
          <p:cNvSpPr txBox="1"/>
          <p:nvPr/>
        </p:nvSpPr>
        <p:spPr>
          <a:xfrm>
            <a:off x="640080" y="2651760"/>
            <a:ext cx="3145536" cy="868679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marL="0" indent="0">
              <a:lnSpc>
                <a:spcPct val="108000"/>
              </a:lnSpc>
              <a:buNone/>
            </a:pPr>
            <a:r>
              <a:rPr sz="1250" b="0" i="0" lang="pt-BR">
                <a:solidFill>
                  <a:srgbClr val="28282D"/>
                </a:solidFill>
                <a:latin typeface="Work Sans"/>
                <a:ea typeface="Work Sans"/>
                <a:cs typeface="Work Sans"/>
              </a:rPr>
              <a:t>Gestores precisam acompanhar execução e ocorrências sem depender de atualizações manuais.</a:t>
            </a:r>
            <a:endParaRPr lang="pt-BR" sz="1250"/>
          </a:p>
        </p:txBody>
      </p:sp>
      <p:sp>
        <p:nvSpPr>
          <p:cNvPr id="77" name="pain_c1"/>
          <p:cNvSpPr/>
          <p:nvPr/>
        </p:nvSpPr>
        <p:spPr>
          <a:xfrm>
            <a:off x="4293108" y="1783080"/>
            <a:ext cx="3602736" cy="1874519"/>
          </a:xfrm>
          <a:prstGeom prst="roundRect">
            <a:avLst>
              <a:gd name="adj" fmla="val 6000"/>
            </a:avLst>
          </a:prstGeom>
          <a:solidFill>
            <a:srgbClr val="F2F0EB"/>
          </a:solidFill>
          <a:ln w="12700">
            <a:solidFill>
              <a:srgbClr val="D5D8D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" name="pain_n1_c"/>
          <p:cNvSpPr/>
          <p:nvPr/>
        </p:nvSpPr>
        <p:spPr>
          <a:xfrm>
            <a:off x="4521708" y="2029967"/>
            <a:ext cx="420624" cy="420624"/>
          </a:xfrm>
          <a:prstGeom prst="ellipse">
            <a:avLst/>
          </a:prstGeom>
          <a:solidFill>
            <a:srgbClr val="00539C"/>
          </a:solidFill>
          <a:ln w="12700">
            <a:solidFill>
              <a:srgbClr val="00539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" name="pain_n1_n"/>
          <p:cNvSpPr txBox="1"/>
          <p:nvPr/>
        </p:nvSpPr>
        <p:spPr>
          <a:xfrm>
            <a:off x="4521708" y="2029967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algn="ctr" marL="0" indent="0">
              <a:buNone/>
            </a:pPr>
            <a:r>
              <a:rPr sz="1200" b="1" i="0" lang="pt-BR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02</a:t>
            </a:r>
            <a:endParaRPr lang="pt-BR" sz="1200"/>
          </a:p>
        </p:txBody>
      </p:sp>
      <p:sp>
        <p:nvSpPr>
          <p:cNvPr id="80" name="pain_t1"/>
          <p:cNvSpPr txBox="1"/>
          <p:nvPr/>
        </p:nvSpPr>
        <p:spPr>
          <a:xfrm>
            <a:off x="5070348" y="1965960"/>
            <a:ext cx="2642615" cy="548640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marL="0" indent="0">
              <a:buNone/>
            </a:pPr>
            <a:r>
              <a:rPr sz="1300" b="1" i="0" lang="pt-BR">
                <a:solidFill>
                  <a:srgbClr val="00539C"/>
                </a:solidFill>
                <a:latin typeface="Montserrat"/>
                <a:ea typeface="Montserrat"/>
                <a:cs typeface="Montserrat"/>
              </a:rPr>
              <a:t>Prioridade técnica</a:t>
            </a:r>
            <a:endParaRPr lang="pt-BR" sz="1300"/>
          </a:p>
        </p:txBody>
      </p:sp>
      <p:sp>
        <p:nvSpPr>
          <p:cNvPr id="81" name="pain_d1"/>
          <p:cNvSpPr txBox="1"/>
          <p:nvPr/>
        </p:nvSpPr>
        <p:spPr>
          <a:xfrm>
            <a:off x="4521708" y="2651760"/>
            <a:ext cx="3145536" cy="868679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marL="0" indent="0">
              <a:lnSpc>
                <a:spcPct val="108000"/>
              </a:lnSpc>
              <a:buNone/>
            </a:pPr>
            <a:r>
              <a:rPr sz="1250" b="0" i="0" lang="pt-BR">
                <a:solidFill>
                  <a:srgbClr val="28282D"/>
                </a:solidFill>
                <a:latin typeface="Work Sans"/>
                <a:ea typeface="Work Sans"/>
                <a:cs typeface="Work Sans"/>
              </a:rPr>
              <a:t>Sem dados confiáveis, equipes podem atuar primeiro onde o retorno operacional é menor.</a:t>
            </a:r>
            <a:endParaRPr lang="pt-BR" sz="1250"/>
          </a:p>
        </p:txBody>
      </p:sp>
      <p:sp>
        <p:nvSpPr>
          <p:cNvPr id="82" name="pain_c2"/>
          <p:cNvSpPr/>
          <p:nvPr/>
        </p:nvSpPr>
        <p:spPr>
          <a:xfrm>
            <a:off x="8174736" y="1783080"/>
            <a:ext cx="3602736" cy="1874519"/>
          </a:xfrm>
          <a:prstGeom prst="roundRect">
            <a:avLst>
              <a:gd name="adj" fmla="val 6000"/>
            </a:avLst>
          </a:prstGeom>
          <a:solidFill>
            <a:srgbClr val="F2F0EB"/>
          </a:solidFill>
          <a:ln w="12700">
            <a:solidFill>
              <a:srgbClr val="D5D8D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" name="pain_n2_c"/>
          <p:cNvSpPr/>
          <p:nvPr/>
        </p:nvSpPr>
        <p:spPr>
          <a:xfrm>
            <a:off x="8403336" y="2029967"/>
            <a:ext cx="420624" cy="420624"/>
          </a:xfrm>
          <a:prstGeom prst="ellipse">
            <a:avLst/>
          </a:prstGeom>
          <a:solidFill>
            <a:srgbClr val="00539C"/>
          </a:solidFill>
          <a:ln w="12700">
            <a:solidFill>
              <a:srgbClr val="00539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" name="pain_n2_n"/>
          <p:cNvSpPr txBox="1"/>
          <p:nvPr/>
        </p:nvSpPr>
        <p:spPr>
          <a:xfrm>
            <a:off x="8403336" y="2029967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algn="ctr" marL="0" indent="0">
              <a:buNone/>
            </a:pPr>
            <a:r>
              <a:rPr sz="1200" b="1" i="0" lang="pt-BR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03</a:t>
            </a:r>
            <a:endParaRPr lang="pt-BR" sz="1200"/>
          </a:p>
        </p:txBody>
      </p:sp>
      <p:sp>
        <p:nvSpPr>
          <p:cNvPr id="85" name="pain_t2"/>
          <p:cNvSpPr txBox="1"/>
          <p:nvPr/>
        </p:nvSpPr>
        <p:spPr>
          <a:xfrm>
            <a:off x="8951976" y="1965960"/>
            <a:ext cx="2642615" cy="548640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marL="0" indent="0">
              <a:buNone/>
            </a:pPr>
            <a:r>
              <a:rPr sz="1300" b="1" i="0" lang="pt-BR">
                <a:solidFill>
                  <a:srgbClr val="00539C"/>
                </a:solidFill>
                <a:latin typeface="Montserrat"/>
                <a:ea typeface="Montserrat"/>
                <a:cs typeface="Montserrat"/>
              </a:rPr>
              <a:t>Evidências dispersas</a:t>
            </a:r>
            <a:endParaRPr lang="pt-BR" sz="1300"/>
          </a:p>
        </p:txBody>
      </p:sp>
      <p:sp>
        <p:nvSpPr>
          <p:cNvPr id="86" name="pain_d2"/>
          <p:cNvSpPr txBox="1"/>
          <p:nvPr/>
        </p:nvSpPr>
        <p:spPr>
          <a:xfrm>
            <a:off x="8403336" y="2651760"/>
            <a:ext cx="3145536" cy="868679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marL="0" indent="0">
              <a:lnSpc>
                <a:spcPct val="108000"/>
              </a:lnSpc>
              <a:buNone/>
            </a:pPr>
            <a:r>
              <a:rPr sz="1250" b="0" i="0" lang="pt-BR">
                <a:solidFill>
                  <a:srgbClr val="28282D"/>
                </a:solidFill>
                <a:latin typeface="Work Sans"/>
                <a:ea typeface="Work Sans"/>
                <a:cs typeface="Work Sans"/>
              </a:rPr>
              <a:t>Planilhas, mensagens e registros isolados quebram a rastreabilidade das decisões.</a:t>
            </a:r>
            <a:endParaRPr lang="pt-BR" sz="1250"/>
          </a:p>
        </p:txBody>
      </p:sp>
      <p:sp>
        <p:nvSpPr>
          <p:cNvPr id="87" name="pain_c3"/>
          <p:cNvSpPr/>
          <p:nvPr/>
        </p:nvSpPr>
        <p:spPr>
          <a:xfrm>
            <a:off x="411480" y="3931920"/>
            <a:ext cx="3602736" cy="1874519"/>
          </a:xfrm>
          <a:prstGeom prst="roundRect">
            <a:avLst>
              <a:gd name="adj" fmla="val 6000"/>
            </a:avLst>
          </a:prstGeom>
          <a:solidFill>
            <a:srgbClr val="F2F0EB"/>
          </a:solidFill>
          <a:ln w="12700">
            <a:solidFill>
              <a:srgbClr val="D5D8D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8" name="pain_n3_c"/>
          <p:cNvSpPr/>
          <p:nvPr/>
        </p:nvSpPr>
        <p:spPr>
          <a:xfrm>
            <a:off x="640080" y="4178808"/>
            <a:ext cx="420624" cy="420624"/>
          </a:xfrm>
          <a:prstGeom prst="ellipse">
            <a:avLst/>
          </a:prstGeom>
          <a:solidFill>
            <a:srgbClr val="00539C"/>
          </a:solidFill>
          <a:ln w="12700">
            <a:solidFill>
              <a:srgbClr val="00539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" name="pain_n3_n"/>
          <p:cNvSpPr txBox="1"/>
          <p:nvPr/>
        </p:nvSpPr>
        <p:spPr>
          <a:xfrm>
            <a:off x="640080" y="4178808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algn="ctr" marL="0" indent="0">
              <a:buNone/>
            </a:pPr>
            <a:r>
              <a:rPr sz="1200" b="1" i="0" lang="pt-BR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04</a:t>
            </a:r>
            <a:endParaRPr lang="pt-BR" sz="1200"/>
          </a:p>
        </p:txBody>
      </p:sp>
      <p:sp>
        <p:nvSpPr>
          <p:cNvPr id="90" name="pain_t3"/>
          <p:cNvSpPr txBox="1"/>
          <p:nvPr/>
        </p:nvSpPr>
        <p:spPr>
          <a:xfrm>
            <a:off x="1188720" y="4114800"/>
            <a:ext cx="2642615" cy="548640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marL="0" indent="0">
              <a:buNone/>
            </a:pPr>
            <a:r>
              <a:rPr sz="1300" b="1" i="0" lang="pt-BR">
                <a:solidFill>
                  <a:srgbClr val="00539C"/>
                </a:solidFill>
                <a:latin typeface="Montserrat"/>
                <a:ea typeface="Montserrat"/>
                <a:cs typeface="Montserrat"/>
              </a:rPr>
              <a:t>Deslocamentos improdutivos</a:t>
            </a:r>
            <a:endParaRPr lang="pt-BR" sz="1300"/>
          </a:p>
        </p:txBody>
      </p:sp>
      <p:sp>
        <p:nvSpPr>
          <p:cNvPr id="91" name="pain_d3"/>
          <p:cNvSpPr txBox="1"/>
          <p:nvPr/>
        </p:nvSpPr>
        <p:spPr>
          <a:xfrm>
            <a:off x="640080" y="4800600"/>
            <a:ext cx="3145536" cy="868679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marL="0" indent="0">
              <a:lnSpc>
                <a:spcPct val="108000"/>
              </a:lnSpc>
              <a:buNone/>
            </a:pPr>
            <a:r>
              <a:rPr sz="1250" b="0" i="0" lang="pt-BR">
                <a:solidFill>
                  <a:srgbClr val="28282D"/>
                </a:solidFill>
                <a:latin typeface="Work Sans"/>
                <a:ea typeface="Work Sans"/>
                <a:cs typeface="Work Sans"/>
              </a:rPr>
              <a:t>Cada visita sem foco consome equipe especializada, combustível e janela operacional.</a:t>
            </a:r>
            <a:endParaRPr lang="pt-BR" sz="1250"/>
          </a:p>
        </p:txBody>
      </p:sp>
      <p:sp>
        <p:nvSpPr>
          <p:cNvPr id="92" name="pain_c4"/>
          <p:cNvSpPr/>
          <p:nvPr/>
        </p:nvSpPr>
        <p:spPr>
          <a:xfrm>
            <a:off x="4293108" y="3931920"/>
            <a:ext cx="3602736" cy="1874519"/>
          </a:xfrm>
          <a:prstGeom prst="roundRect">
            <a:avLst>
              <a:gd name="adj" fmla="val 6000"/>
            </a:avLst>
          </a:prstGeom>
          <a:solidFill>
            <a:srgbClr val="F2F0EB"/>
          </a:solidFill>
          <a:ln w="12700">
            <a:solidFill>
              <a:srgbClr val="D5D8D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3" name="pain_n4_c"/>
          <p:cNvSpPr/>
          <p:nvPr/>
        </p:nvSpPr>
        <p:spPr>
          <a:xfrm>
            <a:off x="4521708" y="4178808"/>
            <a:ext cx="420624" cy="420624"/>
          </a:xfrm>
          <a:prstGeom prst="ellipse">
            <a:avLst/>
          </a:prstGeom>
          <a:solidFill>
            <a:srgbClr val="00539C"/>
          </a:solidFill>
          <a:ln w="12700">
            <a:solidFill>
              <a:srgbClr val="00539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4" name="pain_n4_n"/>
          <p:cNvSpPr txBox="1"/>
          <p:nvPr/>
        </p:nvSpPr>
        <p:spPr>
          <a:xfrm>
            <a:off x="4521708" y="4178808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algn="ctr" marL="0" indent="0">
              <a:buNone/>
            </a:pPr>
            <a:r>
              <a:rPr sz="1200" b="1" i="0" lang="pt-BR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05</a:t>
            </a:r>
            <a:endParaRPr lang="pt-BR" sz="1200"/>
          </a:p>
        </p:txBody>
      </p:sp>
      <p:sp>
        <p:nvSpPr>
          <p:cNvPr id="95" name="pain_t4"/>
          <p:cNvSpPr txBox="1"/>
          <p:nvPr/>
        </p:nvSpPr>
        <p:spPr>
          <a:xfrm>
            <a:off x="5070348" y="4114800"/>
            <a:ext cx="2642615" cy="548640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marL="0" indent="0">
              <a:buNone/>
            </a:pPr>
            <a:r>
              <a:rPr sz="1300" b="1" i="0" lang="pt-BR">
                <a:solidFill>
                  <a:srgbClr val="00539C"/>
                </a:solidFill>
                <a:latin typeface="Montserrat"/>
                <a:ea typeface="Montserrat"/>
                <a:cs typeface="Montserrat"/>
              </a:rPr>
              <a:t>Sinais subutilizados</a:t>
            </a:r>
            <a:endParaRPr lang="pt-BR" sz="1300"/>
          </a:p>
        </p:txBody>
      </p:sp>
      <p:sp>
        <p:nvSpPr>
          <p:cNvPr id="96" name="pain_d4"/>
          <p:cNvSpPr txBox="1"/>
          <p:nvPr/>
        </p:nvSpPr>
        <p:spPr>
          <a:xfrm>
            <a:off x="4521708" y="4800600"/>
            <a:ext cx="3145536" cy="868679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marL="0" indent="0">
              <a:lnSpc>
                <a:spcPct val="108000"/>
              </a:lnSpc>
              <a:buNone/>
            </a:pPr>
            <a:r>
              <a:rPr sz="1250" b="0" i="0" lang="pt-BR">
                <a:solidFill>
                  <a:srgbClr val="28282D"/>
                </a:solidFill>
                <a:latin typeface="Work Sans"/>
                <a:ea typeface="Work Sans"/>
                <a:cs typeface="Work Sans"/>
              </a:rPr>
              <a:t>Pressão, ruído e histórico perdem valor quando não formam uma base única de análise.</a:t>
            </a:r>
            <a:endParaRPr lang="pt-BR" sz="1250"/>
          </a:p>
        </p:txBody>
      </p:sp>
      <p:sp>
        <p:nvSpPr>
          <p:cNvPr id="97" name="pain_c5"/>
          <p:cNvSpPr/>
          <p:nvPr/>
        </p:nvSpPr>
        <p:spPr>
          <a:xfrm>
            <a:off x="8174736" y="3931920"/>
            <a:ext cx="3602736" cy="1874519"/>
          </a:xfrm>
          <a:prstGeom prst="roundRect">
            <a:avLst>
              <a:gd name="adj" fmla="val 6000"/>
            </a:avLst>
          </a:prstGeom>
          <a:solidFill>
            <a:srgbClr val="F2F0EB"/>
          </a:solidFill>
          <a:ln w="12700">
            <a:solidFill>
              <a:srgbClr val="D5D8D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8" name="pain_n5_c"/>
          <p:cNvSpPr/>
          <p:nvPr/>
        </p:nvSpPr>
        <p:spPr>
          <a:xfrm>
            <a:off x="8403336" y="4178808"/>
            <a:ext cx="420624" cy="420624"/>
          </a:xfrm>
          <a:prstGeom prst="ellipse">
            <a:avLst/>
          </a:prstGeom>
          <a:solidFill>
            <a:srgbClr val="00539C"/>
          </a:solidFill>
          <a:ln w="12700">
            <a:solidFill>
              <a:srgbClr val="00539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9" name="pain_n5_n"/>
          <p:cNvSpPr txBox="1"/>
          <p:nvPr/>
        </p:nvSpPr>
        <p:spPr>
          <a:xfrm>
            <a:off x="8403336" y="4178808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algn="ctr" marL="0" indent="0">
              <a:buNone/>
            </a:pPr>
            <a:r>
              <a:rPr sz="1200" b="1" i="0" lang="pt-BR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06</a:t>
            </a:r>
            <a:endParaRPr lang="pt-BR" sz="1200"/>
          </a:p>
        </p:txBody>
      </p:sp>
      <p:sp>
        <p:nvSpPr>
          <p:cNvPr id="100" name="pain_t5"/>
          <p:cNvSpPr txBox="1"/>
          <p:nvPr/>
        </p:nvSpPr>
        <p:spPr>
          <a:xfrm>
            <a:off x="8951976" y="4114800"/>
            <a:ext cx="2642615" cy="548640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marL="0" indent="0">
              <a:buNone/>
            </a:pPr>
            <a:r>
              <a:rPr sz="1300" b="1" i="0" lang="pt-BR">
                <a:solidFill>
                  <a:srgbClr val="00539C"/>
                </a:solidFill>
                <a:latin typeface="Montserrat"/>
                <a:ea typeface="Montserrat"/>
                <a:cs typeface="Montserrat"/>
              </a:rPr>
              <a:t>Ciclo incompleto</a:t>
            </a:r>
            <a:endParaRPr lang="pt-BR" sz="1300"/>
          </a:p>
        </p:txBody>
      </p:sp>
      <p:sp>
        <p:nvSpPr>
          <p:cNvPr id="101" name="pain_d5"/>
          <p:cNvSpPr txBox="1"/>
          <p:nvPr/>
        </p:nvSpPr>
        <p:spPr>
          <a:xfrm>
            <a:off x="8403336" y="4800600"/>
            <a:ext cx="3145536" cy="868679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marL="0" indent="0">
              <a:lnSpc>
                <a:spcPct val="108000"/>
              </a:lnSpc>
              <a:buNone/>
            </a:pPr>
            <a:r>
              <a:rPr sz="1250" b="0" i="0" lang="pt-BR">
                <a:solidFill>
                  <a:srgbClr val="28282D"/>
                </a:solidFill>
                <a:latin typeface="Work Sans"/>
                <a:ea typeface="Work Sans"/>
                <a:cs typeface="Work Sans"/>
              </a:rPr>
              <a:t>Suspeita, investigação, reparo e validação precisam manter um histórico claro de ponta a ponta.</a:t>
            </a:r>
            <a:endParaRPr lang="pt-BR" sz="1250"/>
          </a:p>
        </p:txBody>
      </p:sp>
      <p:sp>
        <p:nvSpPr>
          <p:cNvPr id="102" name="source"/>
          <p:cNvSpPr txBox="1"/>
          <p:nvPr/>
        </p:nvSpPr>
        <p:spPr>
          <a:xfrm>
            <a:off x="640080" y="6382512"/>
            <a:ext cx="7223760" cy="201168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marL="0" indent="0">
              <a:buNone/>
            </a:pPr>
            <a:r>
              <a:rPr sz="800" b="0" i="0" lang="pt-BR">
                <a:solidFill>
                  <a:srgbClr val="28282D"/>
                </a:solidFill>
                <a:latin typeface="Work Sans"/>
                <a:ea typeface="Work Sans"/>
                <a:cs typeface="Work Sans"/>
              </a:rPr>
              <a:t>Fonte: Hydroforce — hydroforce.com.br (acesso em 03 set. 2026).</a:t>
            </a:r>
            <a:endParaRPr lang="pt-BR" sz="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07040" y="6254496"/>
            <a:ext cx="13716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28282D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1" lang="pt-BR"/>
              <a:t>2</a:t>
            </a:fld>
            <a:endParaRPr lang="pt-BR"/>
          </a:p>
        </p:txBody>
      </p:sp>
      <p:sp>
        <p:nvSpPr>
          <p:cNvPr id="69" name="!!label"/>
          <p:cNvSpPr txBox="1"/>
          <p:nvPr/>
        </p:nvSpPr>
        <p:spPr>
          <a:xfrm>
            <a:off x="411480" y="292608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marL="0" indent="0">
              <a:buNone/>
            </a:pPr>
            <a:r>
              <a:rPr sz="1300" b="0" i="1" lang="pt-BR">
                <a:solidFill>
                  <a:srgbClr val="5B6B75"/>
                </a:solidFill>
                <a:latin typeface="Work Sans"/>
                <a:ea typeface="Work Sans"/>
                <a:cs typeface="Work Sans"/>
              </a:rPr>
              <a:t>Solução integrada</a:t>
            </a:r>
            <a:endParaRPr lang="pt-BR" sz="1300"/>
          </a:p>
        </p:txBody>
      </p:sp>
      <p:sp>
        <p:nvSpPr>
          <p:cNvPr id="70" name="!!title"/>
          <p:cNvSpPr txBox="1"/>
          <p:nvPr/>
        </p:nvSpPr>
        <p:spPr>
          <a:xfrm>
            <a:off x="411480" y="530352"/>
            <a:ext cx="11338560" cy="566928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marL="0" indent="0">
              <a:buNone/>
            </a:pPr>
            <a:r>
              <a:rPr sz="2500" b="1" i="0" lang="pt-BR">
                <a:solidFill>
                  <a:srgbClr val="28282D"/>
                </a:solidFill>
                <a:latin typeface="Montserrat"/>
                <a:ea typeface="Montserrat"/>
                <a:cs typeface="Montserrat"/>
              </a:rPr>
              <a:t>UM ECOSSISTEMA CONECTA REDE, CAMPO E DECISÃO</a:t>
            </a:r>
            <a:endParaRPr lang="pt-BR" sz="2500"/>
          </a:p>
        </p:txBody>
      </p:sp>
      <p:sp>
        <p:nvSpPr>
          <p:cNvPr id="71" name="subtitle"/>
          <p:cNvSpPr txBox="1"/>
          <p:nvPr/>
        </p:nvSpPr>
        <p:spPr>
          <a:xfrm>
            <a:off x="411480" y="1298448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marL="0" indent="0">
              <a:buNone/>
            </a:pPr>
            <a:r>
              <a:rPr sz="1300" b="0" i="1" lang="pt-BR">
                <a:solidFill>
                  <a:srgbClr val="6B7680"/>
                </a:solidFill>
                <a:latin typeface="Work Sans"/>
                <a:ea typeface="Work Sans"/>
                <a:cs typeface="Work Sans"/>
              </a:rPr>
              <a:t>Três capacidades especializadas operam como uma única cadeia de inteligência.</a:t>
            </a:r>
            <a:endParaRPr lang="pt-BR" sz="1300"/>
          </a:p>
        </p:txBody>
      </p:sp>
      <p:sp>
        <p:nvSpPr>
          <p:cNvPr id="72" name="pil_c0"/>
          <p:cNvSpPr/>
          <p:nvPr/>
        </p:nvSpPr>
        <p:spPr>
          <a:xfrm>
            <a:off x="411480" y="1783080"/>
            <a:ext cx="3602736" cy="2788920"/>
          </a:xfrm>
          <a:prstGeom prst="roundRect">
            <a:avLst>
              <a:gd name="adj" fmla="val 6000"/>
            </a:avLst>
          </a:prstGeom>
          <a:solidFill>
            <a:srgbClr val="F2F0EB"/>
          </a:solidFill>
          <a:ln w="12700">
            <a:solidFill>
              <a:srgbClr val="D5D8D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" name="pil_i0_c"/>
          <p:cNvSpPr/>
          <p:nvPr/>
        </p:nvSpPr>
        <p:spPr>
          <a:xfrm>
            <a:off x="658368" y="2029967"/>
            <a:ext cx="603504" cy="603504"/>
          </a:xfrm>
          <a:prstGeom prst="ellipse">
            <a:avLst/>
          </a:prstGeom>
          <a:solidFill>
            <a:srgbClr val="00539C"/>
          </a:solidFill>
          <a:ln w="12700">
            <a:solidFill>
              <a:srgbClr val="00539C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74" name="pil_i0_ic" descr="rad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208" y="2174808"/>
            <a:ext cx="313822" cy="313822"/>
          </a:xfrm>
          <a:prstGeom prst="rect">
            <a:avLst/>
          </a:prstGeom>
        </p:spPr>
      </p:pic>
      <p:sp>
        <p:nvSpPr>
          <p:cNvPr id="75" name="pil_t0"/>
          <p:cNvSpPr txBox="1"/>
          <p:nvPr/>
        </p:nvSpPr>
        <p:spPr>
          <a:xfrm>
            <a:off x="1417320" y="2057400"/>
            <a:ext cx="2368296" cy="548640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marL="0" indent="0">
              <a:buNone/>
            </a:pPr>
            <a:r>
              <a:rPr sz="1800" b="1" i="0" lang="pt-BR">
                <a:solidFill>
                  <a:srgbClr val="00539C"/>
                </a:solidFill>
                <a:latin typeface="Montserrat"/>
                <a:ea typeface="Montserrat"/>
                <a:cs typeface="Montserrat"/>
              </a:rPr>
              <a:t>HydroSmart</a:t>
            </a:r>
            <a:endParaRPr lang="pt-BR" sz="1800"/>
          </a:p>
        </p:txBody>
      </p:sp>
      <p:sp>
        <p:nvSpPr>
          <p:cNvPr id="76" name="pil_tag0"/>
          <p:cNvSpPr txBox="1"/>
          <p:nvPr/>
        </p:nvSpPr>
        <p:spPr>
          <a:xfrm>
            <a:off x="685800" y="2862072"/>
            <a:ext cx="3054096" cy="292608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marL="0" indent="0">
              <a:buNone/>
            </a:pPr>
            <a:r>
              <a:rPr sz="1300" b="1" i="0" lang="pt-BR">
                <a:solidFill>
                  <a:srgbClr val="5B6B75"/>
                </a:solidFill>
                <a:latin typeface="Work Sans"/>
                <a:ea typeface="Work Sans"/>
                <a:cs typeface="Work Sans"/>
              </a:rPr>
              <a:t>Pressão + ruído</a:t>
            </a:r>
            <a:endParaRPr lang="pt-BR" sz="1300"/>
          </a:p>
        </p:txBody>
      </p:sp>
      <p:sp>
        <p:nvSpPr>
          <p:cNvPr id="77" name="pil_d0"/>
          <p:cNvSpPr txBox="1"/>
          <p:nvPr/>
        </p:nvSpPr>
        <p:spPr>
          <a:xfrm>
            <a:off x="685800" y="3264408"/>
            <a:ext cx="3054096" cy="141732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marL="0" indent="0">
              <a:lnSpc>
                <a:spcPct val="108000"/>
              </a:lnSpc>
              <a:buNone/>
            </a:pPr>
            <a:r>
              <a:rPr sz="1350" b="0" i="0" lang="pt-BR">
                <a:solidFill>
                  <a:srgbClr val="28282D"/>
                </a:solidFill>
                <a:latin typeface="Work Sans"/>
                <a:ea typeface="Work Sans"/>
                <a:cs typeface="Work Sans"/>
              </a:rPr>
              <a:t>Coleta contínua de sinais na rede para apoiar a identificação de regiões críticas.</a:t>
            </a:r>
            <a:endParaRPr lang="pt-BR" sz="1350"/>
          </a:p>
        </p:txBody>
      </p:sp>
      <p:sp>
        <p:nvSpPr>
          <p:cNvPr id="78" name="pil_c1"/>
          <p:cNvSpPr/>
          <p:nvPr/>
        </p:nvSpPr>
        <p:spPr>
          <a:xfrm>
            <a:off x="4293108" y="1783080"/>
            <a:ext cx="3602736" cy="2788920"/>
          </a:xfrm>
          <a:prstGeom prst="roundRect">
            <a:avLst>
              <a:gd name="adj" fmla="val 6000"/>
            </a:avLst>
          </a:prstGeom>
          <a:solidFill>
            <a:srgbClr val="F2F0EB"/>
          </a:solidFill>
          <a:ln w="12700">
            <a:solidFill>
              <a:srgbClr val="D5D8D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" name="pil_i1_c"/>
          <p:cNvSpPr/>
          <p:nvPr/>
        </p:nvSpPr>
        <p:spPr>
          <a:xfrm>
            <a:off x="4539996" y="2029967"/>
            <a:ext cx="603504" cy="603504"/>
          </a:xfrm>
          <a:prstGeom prst="ellipse">
            <a:avLst/>
          </a:prstGeom>
          <a:solidFill>
            <a:srgbClr val="00539C"/>
          </a:solidFill>
          <a:ln w="12700">
            <a:solidFill>
              <a:srgbClr val="00539C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0" name="pil_i1_ic" descr="monit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4836" y="2174808"/>
            <a:ext cx="313822" cy="313822"/>
          </a:xfrm>
          <a:prstGeom prst="rect">
            <a:avLst/>
          </a:prstGeom>
        </p:spPr>
      </p:pic>
      <p:sp>
        <p:nvSpPr>
          <p:cNvPr id="81" name="pil_t1"/>
          <p:cNvSpPr txBox="1"/>
          <p:nvPr/>
        </p:nvSpPr>
        <p:spPr>
          <a:xfrm>
            <a:off x="5298948" y="2057400"/>
            <a:ext cx="2368296" cy="548640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marL="0" indent="0">
              <a:buNone/>
            </a:pPr>
            <a:r>
              <a:rPr sz="1800" b="1" i="0" lang="pt-BR">
                <a:solidFill>
                  <a:srgbClr val="00539C"/>
                </a:solidFill>
                <a:latin typeface="Montserrat"/>
                <a:ea typeface="Montserrat"/>
                <a:cs typeface="Montserrat"/>
              </a:rPr>
              <a:t>HydroVision</a:t>
            </a:r>
            <a:endParaRPr lang="pt-BR" sz="1800"/>
          </a:p>
        </p:txBody>
      </p:sp>
      <p:sp>
        <p:nvSpPr>
          <p:cNvPr id="82" name="pil_tag1"/>
          <p:cNvSpPr txBox="1"/>
          <p:nvPr/>
        </p:nvSpPr>
        <p:spPr>
          <a:xfrm>
            <a:off x="4567428" y="2862072"/>
            <a:ext cx="3054096" cy="292608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marL="0" indent="0">
              <a:buNone/>
            </a:pPr>
            <a:r>
              <a:rPr sz="1300" b="1" i="0" lang="pt-BR">
                <a:solidFill>
                  <a:srgbClr val="5B6B75"/>
                </a:solidFill>
                <a:latin typeface="Work Sans"/>
                <a:ea typeface="Work Sans"/>
                <a:cs typeface="Work Sans"/>
              </a:rPr>
              <a:t>Gestão + análise</a:t>
            </a:r>
            <a:endParaRPr lang="pt-BR" sz="1300"/>
          </a:p>
        </p:txBody>
      </p:sp>
      <p:sp>
        <p:nvSpPr>
          <p:cNvPr id="83" name="pil_d1"/>
          <p:cNvSpPr txBox="1"/>
          <p:nvPr/>
        </p:nvSpPr>
        <p:spPr>
          <a:xfrm>
            <a:off x="4567428" y="3264408"/>
            <a:ext cx="3054096" cy="141732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marL="0" indent="0">
              <a:lnSpc>
                <a:spcPct val="108000"/>
              </a:lnSpc>
              <a:buNone/>
            </a:pPr>
            <a:r>
              <a:rPr sz="1350" b="0" i="0" lang="pt-BR">
                <a:solidFill>
                  <a:srgbClr val="28282D"/>
                </a:solidFill>
                <a:latin typeface="Work Sans"/>
                <a:ea typeface="Work Sans"/>
                <a:cs typeface="Work Sans"/>
              </a:rPr>
              <a:t>Dispositivos, equipes, investigações, evidências e indicadores em uma visão integrada.</a:t>
            </a:r>
            <a:endParaRPr lang="pt-BR" sz="1350"/>
          </a:p>
        </p:txBody>
      </p:sp>
      <p:sp>
        <p:nvSpPr>
          <p:cNvPr id="84" name="pil_c2"/>
          <p:cNvSpPr/>
          <p:nvPr/>
        </p:nvSpPr>
        <p:spPr>
          <a:xfrm>
            <a:off x="8174736" y="1783080"/>
            <a:ext cx="3602736" cy="2788920"/>
          </a:xfrm>
          <a:prstGeom prst="roundRect">
            <a:avLst>
              <a:gd name="adj" fmla="val 6000"/>
            </a:avLst>
          </a:prstGeom>
          <a:solidFill>
            <a:srgbClr val="F2F0EB"/>
          </a:solidFill>
          <a:ln w="12700">
            <a:solidFill>
              <a:srgbClr val="D5D8D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" name="pil_i2_c"/>
          <p:cNvSpPr/>
          <p:nvPr/>
        </p:nvSpPr>
        <p:spPr>
          <a:xfrm>
            <a:off x="8421624" y="2029967"/>
            <a:ext cx="603504" cy="603504"/>
          </a:xfrm>
          <a:prstGeom prst="ellipse">
            <a:avLst/>
          </a:prstGeom>
          <a:solidFill>
            <a:srgbClr val="00539C"/>
          </a:solidFill>
          <a:ln w="12700">
            <a:solidFill>
              <a:srgbClr val="00539C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6" name="pil_i2_ic" descr="too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66464" y="2174808"/>
            <a:ext cx="313822" cy="313822"/>
          </a:xfrm>
          <a:prstGeom prst="rect">
            <a:avLst/>
          </a:prstGeom>
        </p:spPr>
      </p:pic>
      <p:sp>
        <p:nvSpPr>
          <p:cNvPr id="87" name="pil_t2"/>
          <p:cNvSpPr txBox="1"/>
          <p:nvPr/>
        </p:nvSpPr>
        <p:spPr>
          <a:xfrm>
            <a:off x="9180576" y="2057400"/>
            <a:ext cx="2368296" cy="548640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marL="0" indent="0">
              <a:buNone/>
            </a:pPr>
            <a:r>
              <a:rPr sz="1800" b="1" i="0" lang="pt-BR">
                <a:solidFill>
                  <a:srgbClr val="00539C"/>
                </a:solidFill>
                <a:latin typeface="Montserrat"/>
                <a:ea typeface="Montserrat"/>
                <a:cs typeface="Montserrat"/>
              </a:rPr>
              <a:t>Serviços</a:t>
            </a:r>
            <a:endParaRPr lang="pt-BR" sz="1800"/>
          </a:p>
        </p:txBody>
      </p:sp>
      <p:sp>
        <p:nvSpPr>
          <p:cNvPr id="88" name="pil_tag2"/>
          <p:cNvSpPr txBox="1"/>
          <p:nvPr/>
        </p:nvSpPr>
        <p:spPr>
          <a:xfrm>
            <a:off x="8449056" y="2862072"/>
            <a:ext cx="3054096" cy="292608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marL="0" indent="0">
              <a:buNone/>
            </a:pPr>
            <a:r>
              <a:rPr sz="1300" b="1" i="0" lang="pt-BR">
                <a:solidFill>
                  <a:srgbClr val="5B6B75"/>
                </a:solidFill>
                <a:latin typeface="Work Sans"/>
                <a:ea typeface="Work Sans"/>
                <a:cs typeface="Work Sans"/>
              </a:rPr>
              <a:t>Campo + método</a:t>
            </a:r>
            <a:endParaRPr lang="pt-BR" sz="1300"/>
          </a:p>
        </p:txBody>
      </p:sp>
      <p:sp>
        <p:nvSpPr>
          <p:cNvPr id="89" name="pil_d2"/>
          <p:cNvSpPr txBox="1"/>
          <p:nvPr/>
        </p:nvSpPr>
        <p:spPr>
          <a:xfrm>
            <a:off x="8449056" y="3264408"/>
            <a:ext cx="3054096" cy="141732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marL="0" indent="0">
              <a:lnSpc>
                <a:spcPct val="108000"/>
              </a:lnSpc>
              <a:buNone/>
            </a:pPr>
            <a:r>
              <a:rPr sz="1350" b="0" i="0" lang="pt-BR">
                <a:solidFill>
                  <a:srgbClr val="28282D"/>
                </a:solidFill>
                <a:latin typeface="Work Sans"/>
                <a:ea typeface="Work Sans"/>
                <a:cs typeface="Work Sans"/>
              </a:rPr>
              <a:t>Investigação especializada para transformar suspeitas em decisões operacionais rastreáveis.</a:t>
            </a:r>
            <a:endParaRPr lang="pt-BR" sz="1350"/>
          </a:p>
        </p:txBody>
      </p:sp>
      <p:sp>
        <p:nvSpPr>
          <p:cNvPr id="90" name="flow"/>
          <p:cNvSpPr/>
          <p:nvPr/>
        </p:nvSpPr>
        <p:spPr>
          <a:xfrm>
            <a:off x="2167128" y="4937760"/>
            <a:ext cx="7863840" cy="502920"/>
          </a:xfrm>
          <a:prstGeom prst="roundRect">
            <a:avLst>
              <a:gd name="adj" fmla="val 50000"/>
            </a:avLst>
          </a:prstGeom>
          <a:solidFill>
            <a:srgbClr val="D8E4EC"/>
          </a:solidFill>
          <a:ln w="9525">
            <a:solidFill>
              <a:srgbClr val="D8E4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1" name="flow_txt"/>
          <p:cNvSpPr txBox="1"/>
          <p:nvPr/>
        </p:nvSpPr>
        <p:spPr>
          <a:xfrm>
            <a:off x="2167128" y="4937760"/>
            <a:ext cx="7863840" cy="502920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algn="ctr" marL="0" indent="0">
              <a:buNone/>
            </a:pPr>
            <a:r>
              <a:rPr sz="1400" b="1" i="0" lang="pt-BR">
                <a:solidFill>
                  <a:srgbClr val="28282D"/>
                </a:solidFill>
                <a:latin typeface="Montserrat"/>
                <a:ea typeface="Montserrat"/>
                <a:cs typeface="Montserrat"/>
              </a:rPr>
              <a:t>EQUIPAMENTO  →  PLATAFORMA  →  OPERAÇÃO  →  EVIDÊNCIA  →  DECISÃO</a:t>
            </a:r>
            <a:endParaRPr lang="pt-BR" sz="1400"/>
          </a:p>
        </p:txBody>
      </p:sp>
      <p:sp>
        <p:nvSpPr>
          <p:cNvPr id="92" name="source"/>
          <p:cNvSpPr txBox="1"/>
          <p:nvPr/>
        </p:nvSpPr>
        <p:spPr>
          <a:xfrm>
            <a:off x="640080" y="6382512"/>
            <a:ext cx="7223760" cy="201168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marL="0" indent="0">
              <a:buNone/>
            </a:pPr>
            <a:r>
              <a:rPr sz="800" b="0" i="0" lang="pt-BR">
                <a:solidFill>
                  <a:srgbClr val="28282D"/>
                </a:solidFill>
                <a:latin typeface="Work Sans"/>
                <a:ea typeface="Work Sans"/>
                <a:cs typeface="Work Sans"/>
              </a:rPr>
              <a:t>Fonte: Hydroforce — páginas institucionais Hydroforce, HydroSmart e HydroVision.</a:t>
            </a:r>
            <a:endParaRPr lang="pt-BR" sz="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07040" y="6254496"/>
            <a:ext cx="13716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28282D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1" lang="pt-BR"/>
              <a:t>2</a:t>
            </a:fld>
            <a:endParaRPr lang="pt-BR"/>
          </a:p>
        </p:txBody>
      </p:sp>
      <p:sp>
        <p:nvSpPr>
          <p:cNvPr id="69" name="!!label"/>
          <p:cNvSpPr txBox="1"/>
          <p:nvPr/>
        </p:nvSpPr>
        <p:spPr>
          <a:xfrm>
            <a:off x="411480" y="292608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marL="0" indent="0">
              <a:buNone/>
            </a:pPr>
            <a:r>
              <a:rPr sz="1300" b="0" i="1" lang="pt-BR">
                <a:solidFill>
                  <a:srgbClr val="5B6B75"/>
                </a:solidFill>
                <a:latin typeface="Work Sans"/>
                <a:ea typeface="Work Sans"/>
                <a:cs typeface="Work Sans"/>
              </a:rPr>
              <a:t>HydroSmart  ·  Equipamento inteligente</a:t>
            </a:r>
            <a:endParaRPr lang="pt-BR" sz="1300"/>
          </a:p>
        </p:txBody>
      </p:sp>
      <p:sp>
        <p:nvSpPr>
          <p:cNvPr id="70" name="!!title"/>
          <p:cNvSpPr txBox="1"/>
          <p:nvPr/>
        </p:nvSpPr>
        <p:spPr>
          <a:xfrm>
            <a:off x="411480" y="530352"/>
            <a:ext cx="11338560" cy="566928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marL="0" indent="0">
              <a:buNone/>
            </a:pPr>
            <a:r>
              <a:rPr sz="2500" b="1" i="0" lang="pt-BR">
                <a:solidFill>
                  <a:srgbClr val="28282D"/>
                </a:solidFill>
                <a:latin typeface="Montserrat"/>
                <a:ea typeface="Montserrat"/>
                <a:cs typeface="Montserrat"/>
              </a:rPr>
              <a:t>PRESSÃO E RUÍDO VIRAM SINAL OPERACIONAL</a:t>
            </a:r>
            <a:endParaRPr lang="pt-BR" sz="2500"/>
          </a:p>
        </p:txBody>
      </p:sp>
      <p:sp>
        <p:nvSpPr>
          <p:cNvPr id="71" name="tag"/>
          <p:cNvSpPr txBox="1"/>
          <p:nvPr/>
        </p:nvSpPr>
        <p:spPr>
          <a:xfrm>
            <a:off x="411480" y="1371600"/>
            <a:ext cx="5669280" cy="868680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marL="0" indent="0">
              <a:buNone/>
            </a:pPr>
            <a:r>
              <a:rPr sz="1800" b="0" i="1" lang="pt-BR">
                <a:solidFill>
                  <a:srgbClr val="28282D"/>
                </a:solidFill>
                <a:latin typeface="Work Sans"/>
                <a:ea typeface="Work Sans"/>
                <a:cs typeface="Work Sans"/>
              </a:rPr>
              <a:t>O HydroSmart apoia a coleta contínua de dados na rede e integra os sinais à operação digital.</a:t>
            </a:r>
            <a:endParaRPr lang="pt-BR" sz="1800"/>
          </a:p>
        </p:txBody>
      </p:sp>
      <p:sp>
        <p:nvSpPr>
          <p:cNvPr id="72" name="hs_l0"/>
          <p:cNvSpPr txBox="1"/>
          <p:nvPr/>
        </p:nvSpPr>
        <p:spPr>
          <a:xfrm>
            <a:off x="411480" y="2514600"/>
            <a:ext cx="1920240" cy="566928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marL="0" indent="0">
              <a:buNone/>
            </a:pPr>
            <a:r>
              <a:rPr sz="1300" b="1" i="0" lang="pt-BR">
                <a:solidFill>
                  <a:srgbClr val="00539C"/>
                </a:solidFill>
                <a:latin typeface="Montserrat"/>
                <a:ea typeface="Montserrat"/>
                <a:cs typeface="Montserrat"/>
              </a:rPr>
              <a:t>PRESSÃO</a:t>
            </a:r>
            <a:endParaRPr lang="pt-BR" sz="1300"/>
          </a:p>
        </p:txBody>
      </p:sp>
      <p:sp>
        <p:nvSpPr>
          <p:cNvPr id="73" name="hs_v0"/>
          <p:cNvSpPr txBox="1"/>
          <p:nvPr/>
        </p:nvSpPr>
        <p:spPr>
          <a:xfrm>
            <a:off x="2377440" y="2514600"/>
            <a:ext cx="3703320" cy="566928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marL="0" indent="0">
              <a:buNone/>
            </a:pPr>
            <a:r>
              <a:rPr sz="1500" b="0" i="0" lang="pt-BR">
                <a:solidFill>
                  <a:srgbClr val="28282D"/>
                </a:solidFill>
                <a:latin typeface="Work Sans"/>
                <a:ea typeface="Work Sans"/>
                <a:cs typeface="Work Sans"/>
              </a:rPr>
              <a:t>acompanha regimes e comportamento da rede</a:t>
            </a:r>
            <a:endParaRPr lang="pt-BR" sz="1500"/>
          </a:p>
        </p:txBody>
      </p:sp>
      <p:cxnSp>
        <p:nvCxnSpPr>
          <p:cNvPr id="74" name="hs_ln0"/>
          <p:cNvCxnSpPr/>
          <p:nvPr/>
        </p:nvCxnSpPr>
        <p:spPr>
          <a:xfrm>
            <a:off x="411480" y="3191256"/>
            <a:ext cx="5669280" cy="0"/>
          </a:xfrm>
          <a:prstGeom prst="line">
            <a:avLst/>
          </a:prstGeom>
          <a:ln w="12700">
            <a:solidFill>
              <a:srgbClr val="D5D8DC"/>
            </a:solidFill>
          </a:ln>
        </p:spPr>
      </p:cxnSp>
      <p:sp>
        <p:nvSpPr>
          <p:cNvPr id="75" name="hs_l1"/>
          <p:cNvSpPr txBox="1"/>
          <p:nvPr/>
        </p:nvSpPr>
        <p:spPr>
          <a:xfrm>
            <a:off x="411480" y="3337560"/>
            <a:ext cx="1920240" cy="566928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marL="0" indent="0">
              <a:buNone/>
            </a:pPr>
            <a:r>
              <a:rPr sz="1300" b="1" i="0" lang="pt-BR">
                <a:solidFill>
                  <a:srgbClr val="00539C"/>
                </a:solidFill>
                <a:latin typeface="Montserrat"/>
                <a:ea typeface="Montserrat"/>
                <a:cs typeface="Montserrat"/>
              </a:rPr>
              <a:t>RUÍDO ACÚSTICO</a:t>
            </a:r>
            <a:endParaRPr lang="pt-BR" sz="1300"/>
          </a:p>
        </p:txBody>
      </p:sp>
      <p:sp>
        <p:nvSpPr>
          <p:cNvPr id="76" name="hs_v1"/>
          <p:cNvSpPr txBox="1"/>
          <p:nvPr/>
        </p:nvSpPr>
        <p:spPr>
          <a:xfrm>
            <a:off x="2377440" y="3337560"/>
            <a:ext cx="3703320" cy="566928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marL="0" indent="0">
              <a:buNone/>
            </a:pPr>
            <a:r>
              <a:rPr sz="1500" b="0" i="0" lang="pt-BR">
                <a:solidFill>
                  <a:srgbClr val="28282D"/>
                </a:solidFill>
                <a:latin typeface="Work Sans"/>
                <a:ea typeface="Work Sans"/>
                <a:cs typeface="Work Sans"/>
              </a:rPr>
              <a:t>apoia a investigação de vazamentos</a:t>
            </a:r>
            <a:endParaRPr lang="pt-BR" sz="1500"/>
          </a:p>
        </p:txBody>
      </p:sp>
      <p:cxnSp>
        <p:nvCxnSpPr>
          <p:cNvPr id="77" name="hs_ln1"/>
          <p:cNvCxnSpPr/>
          <p:nvPr/>
        </p:nvCxnSpPr>
        <p:spPr>
          <a:xfrm>
            <a:off x="411480" y="4014215"/>
            <a:ext cx="5669280" cy="0"/>
          </a:xfrm>
          <a:prstGeom prst="line">
            <a:avLst/>
          </a:prstGeom>
          <a:ln w="12700">
            <a:solidFill>
              <a:srgbClr val="D5D8DC"/>
            </a:solidFill>
          </a:ln>
        </p:spPr>
      </p:cxnSp>
      <p:sp>
        <p:nvSpPr>
          <p:cNvPr id="78" name="hs_l2"/>
          <p:cNvSpPr txBox="1"/>
          <p:nvPr/>
        </p:nvSpPr>
        <p:spPr>
          <a:xfrm>
            <a:off x="411480" y="4160520"/>
            <a:ext cx="1920240" cy="566928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marL="0" indent="0">
              <a:buNone/>
            </a:pPr>
            <a:r>
              <a:rPr sz="1300" b="1" i="0" lang="pt-BR">
                <a:solidFill>
                  <a:srgbClr val="00539C"/>
                </a:solidFill>
                <a:latin typeface="Montserrat"/>
                <a:ea typeface="Montserrat"/>
                <a:cs typeface="Montserrat"/>
              </a:rPr>
              <a:t>INTEGRAÇÃO</a:t>
            </a:r>
            <a:endParaRPr lang="pt-BR" sz="1300"/>
          </a:p>
        </p:txBody>
      </p:sp>
      <p:sp>
        <p:nvSpPr>
          <p:cNvPr id="79" name="hs_v2"/>
          <p:cNvSpPr txBox="1"/>
          <p:nvPr/>
        </p:nvSpPr>
        <p:spPr>
          <a:xfrm>
            <a:off x="2377440" y="4160520"/>
            <a:ext cx="3703320" cy="566928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marL="0" indent="0">
              <a:buNone/>
            </a:pPr>
            <a:r>
              <a:rPr sz="1500" b="0" i="0" lang="pt-BR">
                <a:solidFill>
                  <a:srgbClr val="28282D"/>
                </a:solidFill>
                <a:latin typeface="Work Sans"/>
                <a:ea typeface="Work Sans"/>
                <a:cs typeface="Work Sans"/>
              </a:rPr>
              <a:t>conecta dados ao HydroVision, web e Android</a:t>
            </a:r>
            <a:endParaRPr lang="pt-BR" sz="1500"/>
          </a:p>
        </p:txBody>
      </p:sp>
      <p:cxnSp>
        <p:nvCxnSpPr>
          <p:cNvPr id="80" name="hs_ln2"/>
          <p:cNvCxnSpPr/>
          <p:nvPr/>
        </p:nvCxnSpPr>
        <p:spPr>
          <a:xfrm>
            <a:off x="411480" y="4837176"/>
            <a:ext cx="5669280" cy="0"/>
          </a:xfrm>
          <a:prstGeom prst="line">
            <a:avLst/>
          </a:prstGeom>
          <a:ln w="12700">
            <a:solidFill>
              <a:srgbClr val="D5D8DC"/>
            </a:solidFill>
          </a:ln>
        </p:spPr>
      </p:cxnSp>
      <p:sp>
        <p:nvSpPr>
          <p:cNvPr id="81" name="hs_l3"/>
          <p:cNvSpPr txBox="1"/>
          <p:nvPr/>
        </p:nvSpPr>
        <p:spPr>
          <a:xfrm>
            <a:off x="411480" y="4983480"/>
            <a:ext cx="1920240" cy="566928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marL="0" indent="0">
              <a:buNone/>
            </a:pPr>
            <a:r>
              <a:rPr sz="1300" b="1" i="0" lang="pt-BR">
                <a:solidFill>
                  <a:srgbClr val="00539C"/>
                </a:solidFill>
                <a:latin typeface="Montserrat"/>
                <a:ea typeface="Montserrat"/>
                <a:cs typeface="Montserrat"/>
              </a:rPr>
              <a:t>GESTÃO</a:t>
            </a:r>
            <a:endParaRPr lang="pt-BR" sz="1300"/>
          </a:p>
        </p:txBody>
      </p:sp>
      <p:sp>
        <p:nvSpPr>
          <p:cNvPr id="82" name="hs_v3"/>
          <p:cNvSpPr txBox="1"/>
          <p:nvPr/>
        </p:nvSpPr>
        <p:spPr>
          <a:xfrm>
            <a:off x="2377440" y="4983480"/>
            <a:ext cx="3703320" cy="566928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marL="0" indent="0">
              <a:buNone/>
            </a:pPr>
            <a:r>
              <a:rPr sz="1500" b="0" i="0" lang="pt-BR">
                <a:solidFill>
                  <a:srgbClr val="28282D"/>
                </a:solidFill>
                <a:latin typeface="Work Sans"/>
                <a:ea typeface="Work Sans"/>
                <a:cs typeface="Work Sans"/>
              </a:rPr>
              <a:t>instalação e remoção acompanhadas na plataforma</a:t>
            </a:r>
            <a:endParaRPr lang="pt-BR" sz="1500"/>
          </a:p>
        </p:txBody>
      </p:sp>
      <p:cxnSp>
        <p:nvCxnSpPr>
          <p:cNvPr id="83" name="hs_ln3"/>
          <p:cNvCxnSpPr/>
          <p:nvPr/>
        </p:nvCxnSpPr>
        <p:spPr>
          <a:xfrm>
            <a:off x="411480" y="5660136"/>
            <a:ext cx="5669280" cy="0"/>
          </a:xfrm>
          <a:prstGeom prst="line">
            <a:avLst/>
          </a:prstGeom>
          <a:ln w="12700">
            <a:solidFill>
              <a:srgbClr val="D5D8DC"/>
            </a:solidFill>
          </a:ln>
        </p:spPr>
      </p:cxnSp>
      <p:pic>
        <p:nvPicPr>
          <p:cNvPr id="84" name="img_sensor" descr="sensor_pipe_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371600"/>
            <a:ext cx="5285232" cy="4434840"/>
          </a:xfrm>
          <a:prstGeom prst="roundRect">
            <a:avLst>
              <a:gd name="adj" fmla="val 3200"/>
            </a:avLst>
          </a:prstGeom>
        </p:spPr>
      </p:pic>
      <p:sp>
        <p:nvSpPr>
          <p:cNvPr id="85" name="note"/>
          <p:cNvSpPr txBox="1"/>
          <p:nvPr/>
        </p:nvSpPr>
        <p:spPr>
          <a:xfrm>
            <a:off x="6492240" y="5852160"/>
            <a:ext cx="5285232" cy="246888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algn="ctr" marL="0" indent="0">
              <a:buNone/>
            </a:pPr>
            <a:r>
              <a:rPr sz="1100" b="0" i="1" lang="pt-BR">
                <a:solidFill>
                  <a:srgbClr val="6B7680"/>
                </a:solidFill>
                <a:latin typeface="Work Sans"/>
                <a:ea typeface="Work Sans"/>
                <a:cs typeface="Work Sans"/>
              </a:rPr>
              <a:t>Imagem conceitual</a:t>
            </a:r>
            <a:endParaRPr lang="pt-BR" sz="1100"/>
          </a:p>
        </p:txBody>
      </p:sp>
      <p:sp>
        <p:nvSpPr>
          <p:cNvPr id="86" name="source"/>
          <p:cNvSpPr txBox="1"/>
          <p:nvPr/>
        </p:nvSpPr>
        <p:spPr>
          <a:xfrm>
            <a:off x="640080" y="6382512"/>
            <a:ext cx="7223760" cy="201168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marL="0" indent="0">
              <a:buNone/>
            </a:pPr>
            <a:r>
              <a:rPr sz="800" b="0" i="0" lang="pt-BR">
                <a:solidFill>
                  <a:srgbClr val="28282D"/>
                </a:solidFill>
                <a:latin typeface="Work Sans"/>
                <a:ea typeface="Work Sans"/>
                <a:cs typeface="Work Sans"/>
              </a:rPr>
              <a:t>Fonte: Hydroforce — página institucional e descrição oficial do HydroSmart.</a:t>
            </a:r>
            <a:endParaRPr lang="pt-BR" sz="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07040" y="6254496"/>
            <a:ext cx="13716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28282D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1" lang="pt-BR"/>
              <a:t>2</a:t>
            </a:fld>
            <a:endParaRPr lang="pt-BR"/>
          </a:p>
        </p:txBody>
      </p:sp>
      <p:sp>
        <p:nvSpPr>
          <p:cNvPr id="69" name="!!label"/>
          <p:cNvSpPr txBox="1"/>
          <p:nvPr/>
        </p:nvSpPr>
        <p:spPr>
          <a:xfrm>
            <a:off x="411480" y="292608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marL="0" indent="0">
              <a:buNone/>
            </a:pPr>
            <a:r>
              <a:rPr sz="1300" b="0" i="1" lang="pt-BR">
                <a:solidFill>
                  <a:srgbClr val="5B6B75"/>
                </a:solidFill>
                <a:latin typeface="Work Sans"/>
                <a:ea typeface="Work Sans"/>
                <a:cs typeface="Work Sans"/>
              </a:rPr>
              <a:t>Plataforma digital</a:t>
            </a:r>
            <a:endParaRPr lang="pt-BR" sz="1300"/>
          </a:p>
        </p:txBody>
      </p:sp>
      <p:sp>
        <p:nvSpPr>
          <p:cNvPr id="70" name="!!title"/>
          <p:cNvSpPr txBox="1"/>
          <p:nvPr/>
        </p:nvSpPr>
        <p:spPr>
          <a:xfrm>
            <a:off x="411480" y="530352"/>
            <a:ext cx="11338560" cy="566928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marL="0" indent="0">
              <a:buNone/>
            </a:pPr>
            <a:r>
              <a:rPr sz="2500" b="1" i="0" lang="pt-BR">
                <a:solidFill>
                  <a:srgbClr val="28282D"/>
                </a:solidFill>
                <a:latin typeface="Montserrat"/>
                <a:ea typeface="Montserrat"/>
                <a:cs typeface="Montserrat"/>
              </a:rPr>
              <a:t>HYDROVISION CRIA UMA VISÃO ÚNICA DA OPERAÇÃO</a:t>
            </a:r>
            <a:endParaRPr lang="pt-BR" sz="2500"/>
          </a:p>
        </p:txBody>
      </p:sp>
      <p:sp>
        <p:nvSpPr>
          <p:cNvPr id="71" name="subtitle"/>
          <p:cNvSpPr txBox="1"/>
          <p:nvPr/>
        </p:nvSpPr>
        <p:spPr>
          <a:xfrm>
            <a:off x="411480" y="1298448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marL="0" indent="0">
              <a:buNone/>
            </a:pPr>
            <a:r>
              <a:rPr sz="1300" b="0" i="1" lang="pt-BR">
                <a:solidFill>
                  <a:srgbClr val="6B7680"/>
                </a:solidFill>
                <a:latin typeface="Work Sans"/>
                <a:ea typeface="Work Sans"/>
                <a:cs typeface="Work Sans"/>
              </a:rPr>
              <a:t>Da instalação de dispositivos ao fechamento da investigação, campo e escritório trabalham sobre a mesma base.</a:t>
            </a:r>
            <a:endParaRPr lang="pt-BR" sz="1300"/>
          </a:p>
        </p:txBody>
      </p:sp>
      <p:sp>
        <p:nvSpPr>
          <p:cNvPr id="72" name="hv_ag0_c"/>
          <p:cNvSpPr/>
          <p:nvPr/>
        </p:nvSpPr>
        <p:spPr>
          <a:xfrm>
            <a:off x="457200" y="1874519"/>
            <a:ext cx="420624" cy="420624"/>
          </a:xfrm>
          <a:prstGeom prst="ellipse">
            <a:avLst/>
          </a:prstGeom>
          <a:noFill/>
          <a:ln w="19050">
            <a:solidFill>
              <a:srgbClr val="00539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" name="hv_ag0_n"/>
          <p:cNvSpPr txBox="1"/>
          <p:nvPr/>
        </p:nvSpPr>
        <p:spPr>
          <a:xfrm>
            <a:off x="457200" y="1874519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algn="ctr" marL="0" indent="0">
              <a:buNone/>
            </a:pPr>
            <a:r>
              <a:rPr sz="1200" b="1" i="0" lang="pt-BR">
                <a:solidFill>
                  <a:srgbClr val="00539C"/>
                </a:solidFill>
                <a:latin typeface="Montserrat"/>
                <a:ea typeface="Montserrat"/>
                <a:cs typeface="Montserrat"/>
              </a:rPr>
              <a:t>01</a:t>
            </a:r>
            <a:endParaRPr lang="pt-BR" sz="1200"/>
          </a:p>
        </p:txBody>
      </p:sp>
      <p:sp>
        <p:nvSpPr>
          <p:cNvPr id="74" name="hv_t0"/>
          <p:cNvSpPr txBox="1"/>
          <p:nvPr/>
        </p:nvSpPr>
        <p:spPr>
          <a:xfrm>
            <a:off x="1097280" y="1856231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marL="0" indent="0">
              <a:buNone/>
            </a:pPr>
            <a:r>
              <a:rPr sz="1600" b="1" i="0" lang="pt-BR">
                <a:solidFill>
                  <a:srgbClr val="28282D"/>
                </a:solidFill>
                <a:latin typeface="Montserrat"/>
                <a:ea typeface="Montserrat"/>
                <a:cs typeface="Montserrat"/>
              </a:rPr>
              <a:t>Dispositivos</a:t>
            </a:r>
            <a:endParaRPr lang="pt-BR" sz="1600"/>
          </a:p>
        </p:txBody>
      </p:sp>
      <p:sp>
        <p:nvSpPr>
          <p:cNvPr id="75" name="hv_d0"/>
          <p:cNvSpPr txBox="1"/>
          <p:nvPr/>
        </p:nvSpPr>
        <p:spPr>
          <a:xfrm>
            <a:off x="1097280" y="2295144"/>
            <a:ext cx="4480560" cy="292608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marL="0" indent="0">
              <a:buNone/>
            </a:pPr>
            <a:r>
              <a:rPr sz="1300" b="0" i="0" lang="pt-BR">
                <a:solidFill>
                  <a:srgbClr val="5B6B75"/>
                </a:solidFill>
                <a:latin typeface="Work Sans"/>
                <a:ea typeface="Work Sans"/>
                <a:cs typeface="Work Sans"/>
              </a:rPr>
              <a:t>monitoramento e histórico</a:t>
            </a:r>
            <a:endParaRPr lang="pt-BR" sz="1300"/>
          </a:p>
        </p:txBody>
      </p:sp>
      <p:cxnSp>
        <p:nvCxnSpPr>
          <p:cNvPr id="76" name="hv_ln0"/>
          <p:cNvCxnSpPr/>
          <p:nvPr/>
        </p:nvCxnSpPr>
        <p:spPr>
          <a:xfrm>
            <a:off x="1097280" y="2606039"/>
            <a:ext cx="4480560" cy="0"/>
          </a:xfrm>
          <a:prstGeom prst="line">
            <a:avLst/>
          </a:prstGeom>
          <a:ln w="6350">
            <a:solidFill>
              <a:srgbClr val="28282D"/>
            </a:solidFill>
          </a:ln>
        </p:spPr>
      </p:cxnSp>
      <p:sp>
        <p:nvSpPr>
          <p:cNvPr id="77" name="hv_ag1_c"/>
          <p:cNvSpPr/>
          <p:nvPr/>
        </p:nvSpPr>
        <p:spPr>
          <a:xfrm>
            <a:off x="457200" y="2697479"/>
            <a:ext cx="420624" cy="420624"/>
          </a:xfrm>
          <a:prstGeom prst="ellipse">
            <a:avLst/>
          </a:prstGeom>
          <a:noFill/>
          <a:ln w="19050">
            <a:solidFill>
              <a:srgbClr val="00539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" name="hv_ag1_n"/>
          <p:cNvSpPr txBox="1"/>
          <p:nvPr/>
        </p:nvSpPr>
        <p:spPr>
          <a:xfrm>
            <a:off x="457200" y="2697479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algn="ctr" marL="0" indent="0">
              <a:buNone/>
            </a:pPr>
            <a:r>
              <a:rPr sz="1200" b="1" i="0" lang="pt-BR">
                <a:solidFill>
                  <a:srgbClr val="00539C"/>
                </a:solidFill>
                <a:latin typeface="Montserrat"/>
                <a:ea typeface="Montserrat"/>
                <a:cs typeface="Montserrat"/>
              </a:rPr>
              <a:t>02</a:t>
            </a:r>
            <a:endParaRPr lang="pt-BR" sz="1200"/>
          </a:p>
        </p:txBody>
      </p:sp>
      <p:sp>
        <p:nvSpPr>
          <p:cNvPr id="79" name="hv_t1"/>
          <p:cNvSpPr txBox="1"/>
          <p:nvPr/>
        </p:nvSpPr>
        <p:spPr>
          <a:xfrm>
            <a:off x="1097280" y="2679191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marL="0" indent="0">
              <a:buNone/>
            </a:pPr>
            <a:r>
              <a:rPr sz="1600" b="1" i="0" lang="pt-BR">
                <a:solidFill>
                  <a:srgbClr val="28282D"/>
                </a:solidFill>
                <a:latin typeface="Montserrat"/>
                <a:ea typeface="Montserrat"/>
                <a:cs typeface="Montserrat"/>
              </a:rPr>
              <a:t>Equipes</a:t>
            </a:r>
            <a:endParaRPr lang="pt-BR" sz="1600"/>
          </a:p>
        </p:txBody>
      </p:sp>
      <p:sp>
        <p:nvSpPr>
          <p:cNvPr id="80" name="hv_d1"/>
          <p:cNvSpPr txBox="1"/>
          <p:nvPr/>
        </p:nvSpPr>
        <p:spPr>
          <a:xfrm>
            <a:off x="1097280" y="3118103"/>
            <a:ext cx="4480560" cy="292608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marL="0" indent="0">
              <a:buNone/>
            </a:pPr>
            <a:r>
              <a:rPr sz="1300" b="0" i="0" lang="pt-BR">
                <a:solidFill>
                  <a:srgbClr val="5B6B75"/>
                </a:solidFill>
                <a:latin typeface="Work Sans"/>
                <a:ea typeface="Work Sans"/>
                <a:cs typeface="Work Sans"/>
              </a:rPr>
              <a:t>execução e acompanhamento</a:t>
            </a:r>
            <a:endParaRPr lang="pt-BR" sz="1300"/>
          </a:p>
        </p:txBody>
      </p:sp>
      <p:cxnSp>
        <p:nvCxnSpPr>
          <p:cNvPr id="81" name="hv_ln1"/>
          <p:cNvCxnSpPr/>
          <p:nvPr/>
        </p:nvCxnSpPr>
        <p:spPr>
          <a:xfrm>
            <a:off x="1097280" y="3429000"/>
            <a:ext cx="4480560" cy="0"/>
          </a:xfrm>
          <a:prstGeom prst="line">
            <a:avLst/>
          </a:prstGeom>
          <a:ln w="6350">
            <a:solidFill>
              <a:srgbClr val="28282D"/>
            </a:solidFill>
          </a:ln>
        </p:spPr>
      </p:cxnSp>
      <p:sp>
        <p:nvSpPr>
          <p:cNvPr id="82" name="hv_ag2_c"/>
          <p:cNvSpPr/>
          <p:nvPr/>
        </p:nvSpPr>
        <p:spPr>
          <a:xfrm>
            <a:off x="457200" y="3520439"/>
            <a:ext cx="420624" cy="420624"/>
          </a:xfrm>
          <a:prstGeom prst="ellipse">
            <a:avLst/>
          </a:prstGeom>
          <a:noFill/>
          <a:ln w="19050">
            <a:solidFill>
              <a:srgbClr val="00539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" name="hv_ag2_n"/>
          <p:cNvSpPr txBox="1"/>
          <p:nvPr/>
        </p:nvSpPr>
        <p:spPr>
          <a:xfrm>
            <a:off x="457200" y="3520439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algn="ctr" marL="0" indent="0">
              <a:buNone/>
            </a:pPr>
            <a:r>
              <a:rPr sz="1200" b="1" i="0" lang="pt-BR">
                <a:solidFill>
                  <a:srgbClr val="00539C"/>
                </a:solidFill>
                <a:latin typeface="Montserrat"/>
                <a:ea typeface="Montserrat"/>
                <a:cs typeface="Montserrat"/>
              </a:rPr>
              <a:t>03</a:t>
            </a:r>
            <a:endParaRPr lang="pt-BR" sz="1200"/>
          </a:p>
        </p:txBody>
      </p:sp>
      <p:sp>
        <p:nvSpPr>
          <p:cNvPr id="84" name="hv_t2"/>
          <p:cNvSpPr txBox="1"/>
          <p:nvPr/>
        </p:nvSpPr>
        <p:spPr>
          <a:xfrm>
            <a:off x="1097280" y="3502151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marL="0" indent="0">
              <a:buNone/>
            </a:pPr>
            <a:r>
              <a:rPr sz="1600" b="1" i="0" lang="pt-BR">
                <a:solidFill>
                  <a:srgbClr val="28282D"/>
                </a:solidFill>
                <a:latin typeface="Montserrat"/>
                <a:ea typeface="Montserrat"/>
                <a:cs typeface="Montserrat"/>
              </a:rPr>
              <a:t>Investigações</a:t>
            </a:r>
            <a:endParaRPr lang="pt-BR" sz="1600"/>
          </a:p>
        </p:txBody>
      </p:sp>
      <p:sp>
        <p:nvSpPr>
          <p:cNvPr id="85" name="hv_d2"/>
          <p:cNvSpPr txBox="1"/>
          <p:nvPr/>
        </p:nvSpPr>
        <p:spPr>
          <a:xfrm>
            <a:off x="1097280" y="3941063"/>
            <a:ext cx="4480560" cy="292608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marL="0" indent="0">
              <a:buNone/>
            </a:pPr>
            <a:r>
              <a:rPr sz="1300" b="0" i="0" lang="pt-BR">
                <a:solidFill>
                  <a:srgbClr val="5B6B75"/>
                </a:solidFill>
                <a:latin typeface="Work Sans"/>
                <a:ea typeface="Work Sans"/>
                <a:cs typeface="Work Sans"/>
              </a:rPr>
              <a:t>evidências e ocorrências</a:t>
            </a:r>
            <a:endParaRPr lang="pt-BR" sz="1300"/>
          </a:p>
        </p:txBody>
      </p:sp>
      <p:cxnSp>
        <p:nvCxnSpPr>
          <p:cNvPr id="86" name="hv_ln2"/>
          <p:cNvCxnSpPr/>
          <p:nvPr/>
        </p:nvCxnSpPr>
        <p:spPr>
          <a:xfrm>
            <a:off x="1097280" y="4251959"/>
            <a:ext cx="4480560" cy="0"/>
          </a:xfrm>
          <a:prstGeom prst="line">
            <a:avLst/>
          </a:prstGeom>
          <a:ln w="6350">
            <a:solidFill>
              <a:srgbClr val="28282D"/>
            </a:solidFill>
          </a:ln>
        </p:spPr>
      </p:cxnSp>
      <p:sp>
        <p:nvSpPr>
          <p:cNvPr id="87" name="hv_ag3_c"/>
          <p:cNvSpPr/>
          <p:nvPr/>
        </p:nvSpPr>
        <p:spPr>
          <a:xfrm>
            <a:off x="457200" y="4343400"/>
            <a:ext cx="420624" cy="420624"/>
          </a:xfrm>
          <a:prstGeom prst="ellipse">
            <a:avLst/>
          </a:prstGeom>
          <a:noFill/>
          <a:ln w="19050">
            <a:solidFill>
              <a:srgbClr val="00539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8" name="hv_ag3_n"/>
          <p:cNvSpPr txBox="1"/>
          <p:nvPr/>
        </p:nvSpPr>
        <p:spPr>
          <a:xfrm>
            <a:off x="457200" y="4343400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algn="ctr" marL="0" indent="0">
              <a:buNone/>
            </a:pPr>
            <a:r>
              <a:rPr sz="1200" b="1" i="0" lang="pt-BR">
                <a:solidFill>
                  <a:srgbClr val="00539C"/>
                </a:solidFill>
                <a:latin typeface="Montserrat"/>
                <a:ea typeface="Montserrat"/>
                <a:cs typeface="Montserrat"/>
              </a:rPr>
              <a:t>04</a:t>
            </a:r>
            <a:endParaRPr lang="pt-BR" sz="1200"/>
          </a:p>
        </p:txBody>
      </p:sp>
      <p:sp>
        <p:nvSpPr>
          <p:cNvPr id="89" name="hv_t3"/>
          <p:cNvSpPr txBox="1"/>
          <p:nvPr/>
        </p:nvSpPr>
        <p:spPr>
          <a:xfrm>
            <a:off x="1097280" y="4325112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marL="0" indent="0">
              <a:buNone/>
            </a:pPr>
            <a:r>
              <a:rPr sz="1600" b="1" i="0" lang="pt-BR">
                <a:solidFill>
                  <a:srgbClr val="28282D"/>
                </a:solidFill>
                <a:latin typeface="Montserrat"/>
                <a:ea typeface="Montserrat"/>
                <a:cs typeface="Montserrat"/>
              </a:rPr>
              <a:t>Indicadores</a:t>
            </a:r>
            <a:endParaRPr lang="pt-BR" sz="1600"/>
          </a:p>
        </p:txBody>
      </p:sp>
      <p:sp>
        <p:nvSpPr>
          <p:cNvPr id="90" name="hv_d3"/>
          <p:cNvSpPr txBox="1"/>
          <p:nvPr/>
        </p:nvSpPr>
        <p:spPr>
          <a:xfrm>
            <a:off x="1097280" y="4764024"/>
            <a:ext cx="4480560" cy="292608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marL="0" indent="0">
              <a:buNone/>
            </a:pPr>
            <a:r>
              <a:rPr sz="1300" b="0" i="0" lang="pt-BR">
                <a:solidFill>
                  <a:srgbClr val="5B6B75"/>
                </a:solidFill>
                <a:latin typeface="Work Sans"/>
                <a:ea typeface="Work Sans"/>
                <a:cs typeface="Work Sans"/>
              </a:rPr>
              <a:t>leitura gerencial e relatórios</a:t>
            </a:r>
            <a:endParaRPr lang="pt-BR" sz="1300"/>
          </a:p>
        </p:txBody>
      </p:sp>
      <p:cxnSp>
        <p:nvCxnSpPr>
          <p:cNvPr id="91" name="hv_ln3"/>
          <p:cNvCxnSpPr/>
          <p:nvPr/>
        </p:nvCxnSpPr>
        <p:spPr>
          <a:xfrm>
            <a:off x="1097280" y="5074920"/>
            <a:ext cx="4480560" cy="0"/>
          </a:xfrm>
          <a:prstGeom prst="line">
            <a:avLst/>
          </a:prstGeom>
          <a:ln w="6350">
            <a:solidFill>
              <a:srgbClr val="28282D"/>
            </a:solidFill>
          </a:ln>
        </p:spPr>
      </p:cxnSp>
      <p:sp>
        <p:nvSpPr>
          <p:cNvPr id="92" name="hv_pill"/>
          <p:cNvSpPr/>
          <p:nvPr/>
        </p:nvSpPr>
        <p:spPr>
          <a:xfrm>
            <a:off x="457200" y="5230368"/>
            <a:ext cx="2514600" cy="438912"/>
          </a:xfrm>
          <a:prstGeom prst="roundRect">
            <a:avLst>
              <a:gd name="adj" fmla="val 50000"/>
            </a:avLst>
          </a:prstGeom>
          <a:solidFill>
            <a:srgbClr val="D8E4EC"/>
          </a:solidFill>
          <a:ln w="9525">
            <a:solidFill>
              <a:srgbClr val="D8E4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3" name="hv_pill_txt"/>
          <p:cNvSpPr txBox="1"/>
          <p:nvPr/>
        </p:nvSpPr>
        <p:spPr>
          <a:xfrm>
            <a:off x="457200" y="5230368"/>
            <a:ext cx="2514600" cy="438912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algn="ctr" marL="0" indent="0">
              <a:buNone/>
            </a:pPr>
            <a:r>
              <a:rPr sz="1300" b="1" i="0" lang="pt-BR">
                <a:solidFill>
                  <a:srgbClr val="28282D"/>
                </a:solidFill>
                <a:latin typeface="Montserrat"/>
                <a:ea typeface="Montserrat"/>
                <a:cs typeface="Montserrat"/>
              </a:rPr>
              <a:t>WEB + ANDROID</a:t>
            </a:r>
            <a:endParaRPr lang="pt-BR" sz="1300"/>
          </a:p>
        </p:txBody>
      </p:sp>
      <p:pic>
        <p:nvPicPr>
          <p:cNvPr id="94" name="img_laptop" descr="laptop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737360"/>
            <a:ext cx="5742432" cy="3477043"/>
          </a:xfrm>
          <a:prstGeom prst="rect">
            <a:avLst/>
          </a:prstGeom>
        </p:spPr>
      </p:pic>
      <p:sp>
        <p:nvSpPr>
          <p:cNvPr id="95" name="note"/>
          <p:cNvSpPr txBox="1"/>
          <p:nvPr/>
        </p:nvSpPr>
        <p:spPr>
          <a:xfrm>
            <a:off x="6035040" y="5349240"/>
            <a:ext cx="5742432" cy="246888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algn="ctr" marL="0" indent="0">
              <a:buNone/>
            </a:pPr>
            <a:r>
              <a:rPr sz="1100" b="0" i="1" lang="pt-BR">
                <a:solidFill>
                  <a:srgbClr val="6B7680"/>
                </a:solidFill>
                <a:latin typeface="Work Sans"/>
                <a:ea typeface="Work Sans"/>
                <a:cs typeface="Work Sans"/>
              </a:rPr>
              <a:t>Painel do HydroVision Web — visão geral dos vazamentos</a:t>
            </a:r>
            <a:endParaRPr lang="pt-BR" sz="1100"/>
          </a:p>
        </p:txBody>
      </p:sp>
      <p:sp>
        <p:nvSpPr>
          <p:cNvPr id="96" name="source"/>
          <p:cNvSpPr txBox="1"/>
          <p:nvPr/>
        </p:nvSpPr>
        <p:spPr>
          <a:xfrm>
            <a:off x="640080" y="6382512"/>
            <a:ext cx="7223760" cy="201168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marL="0" indent="0">
              <a:buNone/>
            </a:pPr>
            <a:r>
              <a:rPr sz="800" b="0" i="0" lang="pt-BR">
                <a:solidFill>
                  <a:srgbClr val="28282D"/>
                </a:solidFill>
                <a:latin typeface="Work Sans"/>
                <a:ea typeface="Work Sans"/>
                <a:cs typeface="Work Sans"/>
              </a:rPr>
              <a:t>Fonte: Hydroforce — HydroVision e página institucional.</a:t>
            </a:r>
            <a:endParaRPr lang="pt-BR" sz="8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07040" y="6254496"/>
            <a:ext cx="13716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28282D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1" lang="pt-BR"/>
              <a:t>2</a:t>
            </a:fld>
            <a:endParaRPr lang="pt-BR"/>
          </a:p>
        </p:txBody>
      </p:sp>
      <p:sp>
        <p:nvSpPr>
          <p:cNvPr id="69" name="!!label"/>
          <p:cNvSpPr txBox="1"/>
          <p:nvPr/>
        </p:nvSpPr>
        <p:spPr>
          <a:xfrm>
            <a:off x="411480" y="292608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marL="0" indent="0">
              <a:buNone/>
            </a:pPr>
            <a:r>
              <a:rPr sz="1300" b="0" i="1" lang="pt-BR">
                <a:solidFill>
                  <a:srgbClr val="5B6B75"/>
                </a:solidFill>
                <a:latin typeface="Work Sans"/>
                <a:ea typeface="Work Sans"/>
                <a:cs typeface="Work Sans"/>
              </a:rPr>
              <a:t>Camada de sensoriamento</a:t>
            </a:r>
            <a:endParaRPr lang="pt-BR" sz="1300"/>
          </a:p>
        </p:txBody>
      </p:sp>
      <p:sp>
        <p:nvSpPr>
          <p:cNvPr id="70" name="!!title"/>
          <p:cNvSpPr txBox="1"/>
          <p:nvPr/>
        </p:nvSpPr>
        <p:spPr>
          <a:xfrm>
            <a:off x="411480" y="530352"/>
            <a:ext cx="11338560" cy="566928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marL="0" indent="0">
              <a:buNone/>
            </a:pPr>
            <a:r>
              <a:rPr sz="2500" b="1" i="0" lang="pt-BR">
                <a:solidFill>
                  <a:srgbClr val="28282D"/>
                </a:solidFill>
                <a:latin typeface="Montserrat"/>
                <a:ea typeface="Montserrat"/>
                <a:cs typeface="Montserrat"/>
              </a:rPr>
              <a:t>DIV SMART OPERA EM DUAS ARQUITETURAS</a:t>
            </a:r>
            <a:endParaRPr lang="pt-BR" sz="2500"/>
          </a:p>
        </p:txBody>
      </p:sp>
      <p:sp>
        <p:nvSpPr>
          <p:cNvPr id="71" name="subtitle"/>
          <p:cNvSpPr txBox="1"/>
          <p:nvPr/>
        </p:nvSpPr>
        <p:spPr>
          <a:xfrm>
            <a:off x="411480" y="1298448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marL="0" indent="0">
              <a:buNone/>
            </a:pPr>
            <a:r>
              <a:rPr sz="1300" b="0" i="1" lang="pt-BR">
                <a:solidFill>
                  <a:srgbClr val="6B7680"/>
                </a:solidFill>
                <a:latin typeface="Work Sans"/>
                <a:ea typeface="Work Sans"/>
                <a:cs typeface="Work Sans"/>
              </a:rPr>
              <a:t>A escolha combina mobilidade de investigação e continuidade de monitoramento na rede.</a:t>
            </a:r>
            <a:endParaRPr lang="pt-BR" sz="1300"/>
          </a:p>
        </p:txBody>
      </p:sp>
      <p:pic>
        <p:nvPicPr>
          <p:cNvPr id="72" name="img_hw" descr="hardw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801550"/>
            <a:ext cx="2788920" cy="2431938"/>
          </a:xfrm>
          <a:prstGeom prst="roundRect">
            <a:avLst>
              <a:gd name="adj" fmla="val 3200"/>
            </a:avLst>
          </a:prstGeom>
        </p:spPr>
      </p:pic>
      <p:sp>
        <p:nvSpPr>
          <p:cNvPr id="73" name="hw_cap"/>
          <p:cNvSpPr txBox="1"/>
          <p:nvPr/>
        </p:nvSpPr>
        <p:spPr>
          <a:xfrm>
            <a:off x="411480" y="4343400"/>
            <a:ext cx="2788920" cy="292608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algn="ctr" marL="0" indent="0">
              <a:buNone/>
            </a:pPr>
            <a:r>
              <a:rPr sz="1200" b="1" i="0" lang="pt-BR">
                <a:solidFill>
                  <a:srgbClr val="5B6B75"/>
                </a:solidFill>
                <a:latin typeface="Montserrat"/>
                <a:ea typeface="Montserrat"/>
                <a:cs typeface="Montserrat"/>
              </a:rPr>
              <a:t>HARDWARE DE CAMPO</a:t>
            </a:r>
            <a:endParaRPr lang="pt-BR" sz="1200"/>
          </a:p>
        </p:txBody>
      </p:sp>
      <p:sp>
        <p:nvSpPr>
          <p:cNvPr id="74" name="ar_c0"/>
          <p:cNvSpPr/>
          <p:nvPr/>
        </p:nvSpPr>
        <p:spPr>
          <a:xfrm>
            <a:off x="3474720" y="1783080"/>
            <a:ext cx="4023360" cy="3017520"/>
          </a:xfrm>
          <a:prstGeom prst="roundRect">
            <a:avLst>
              <a:gd name="adj" fmla="val 6000"/>
            </a:avLst>
          </a:prstGeom>
          <a:solidFill>
            <a:srgbClr val="F2F0EB"/>
          </a:solidFill>
          <a:ln w="12700">
            <a:solidFill>
              <a:srgbClr val="D5D8D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" name="ar_t0"/>
          <p:cNvSpPr txBox="1"/>
          <p:nvPr/>
        </p:nvSpPr>
        <p:spPr>
          <a:xfrm>
            <a:off x="3749039" y="2011680"/>
            <a:ext cx="3474720" cy="411480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marL="0" indent="0">
              <a:buNone/>
            </a:pPr>
            <a:r>
              <a:rPr sz="1600" b="1" i="0" lang="pt-BR">
                <a:solidFill>
                  <a:srgbClr val="00539C"/>
                </a:solidFill>
                <a:latin typeface="Montserrat"/>
                <a:ea typeface="Montserrat"/>
                <a:cs typeface="Montserrat"/>
              </a:rPr>
              <a:t>Correlacionador móvel</a:t>
            </a:r>
            <a:endParaRPr lang="pt-BR" sz="1600"/>
          </a:p>
        </p:txBody>
      </p:sp>
      <p:sp>
        <p:nvSpPr>
          <p:cNvPr id="76" name="ar_tag0"/>
          <p:cNvSpPr txBox="1"/>
          <p:nvPr/>
        </p:nvSpPr>
        <p:spPr>
          <a:xfrm>
            <a:off x="3749039" y="2441448"/>
            <a:ext cx="3474720" cy="292608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marL="0" indent="0">
              <a:buNone/>
            </a:pPr>
            <a:r>
              <a:rPr sz="1250" b="1" i="0" lang="pt-BR">
                <a:solidFill>
                  <a:srgbClr val="5B6B75"/>
                </a:solidFill>
                <a:latin typeface="Work Sans"/>
                <a:ea typeface="Work Sans"/>
                <a:cs typeface="Work Sans"/>
              </a:rPr>
              <a:t>Campanhas e investigações direcionadas</a:t>
            </a:r>
            <a:endParaRPr lang="pt-BR" sz="1250"/>
          </a:p>
        </p:txBody>
      </p:sp>
      <p:sp>
        <p:nvSpPr>
          <p:cNvPr id="77" name="ar_l0"/>
          <p:cNvSpPr txBox="1"/>
          <p:nvPr/>
        </p:nvSpPr>
        <p:spPr>
          <a:xfrm>
            <a:off x="3749039" y="2880360"/>
            <a:ext cx="3474720" cy="1783079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marL="203200" indent="-2032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sz="1400" b="0" i="0" lang="pt-BR">
                <a:solidFill>
                  <a:srgbClr val="28282D"/>
                </a:solidFill>
                <a:latin typeface="Work Sans"/>
                <a:ea typeface="Work Sans"/>
                <a:cs typeface="Work Sans"/>
              </a:rPr>
              <a:t>Proteção IP-68</a:t>
            </a:r>
            <a:endParaRPr lang="pt-BR" sz="1400"/>
          </a:p>
          <a:p>
            <a:pPr marL="203200" indent="-2032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sz="1400" b="0" i="0" lang="pt-BR">
                <a:solidFill>
                  <a:srgbClr val="28282D"/>
                </a:solidFill>
                <a:latin typeface="Work Sans"/>
                <a:ea typeface="Work Sans"/>
                <a:cs typeface="Work Sans"/>
              </a:rPr>
              <a:t>Transmissão CAT-1 Low Energy</a:t>
            </a:r>
            <a:endParaRPr lang="pt-BR" sz="1400"/>
          </a:p>
          <a:p>
            <a:pPr marL="203200" indent="-2032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sz="1400" b="0" i="0" lang="pt-BR">
                <a:solidFill>
                  <a:srgbClr val="28282D"/>
                </a:solidFill>
                <a:latin typeface="Work Sans"/>
                <a:ea typeface="Work Sans"/>
                <a:cs typeface="Work Sans"/>
              </a:rPr>
              <a:t>Acelerômetros de 1 V/g ou 10 V/g</a:t>
            </a:r>
            <a:endParaRPr lang="pt-BR" sz="1400"/>
          </a:p>
        </p:txBody>
      </p:sp>
      <p:sp>
        <p:nvSpPr>
          <p:cNvPr id="78" name="ar_c1"/>
          <p:cNvSpPr/>
          <p:nvPr/>
        </p:nvSpPr>
        <p:spPr>
          <a:xfrm>
            <a:off x="7754112" y="1783080"/>
            <a:ext cx="4023360" cy="3017520"/>
          </a:xfrm>
          <a:prstGeom prst="roundRect">
            <a:avLst>
              <a:gd name="adj" fmla="val 6000"/>
            </a:avLst>
          </a:prstGeom>
          <a:solidFill>
            <a:srgbClr val="F2F0EB"/>
          </a:solidFill>
          <a:ln w="12700">
            <a:solidFill>
              <a:srgbClr val="D5D8D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" name="ar_t1"/>
          <p:cNvSpPr txBox="1"/>
          <p:nvPr/>
        </p:nvSpPr>
        <p:spPr>
          <a:xfrm>
            <a:off x="8028432" y="2011680"/>
            <a:ext cx="3474720" cy="411480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marL="0" indent="0">
              <a:buNone/>
            </a:pPr>
            <a:r>
              <a:rPr sz="1600" b="1" i="0" lang="pt-BR">
                <a:solidFill>
                  <a:srgbClr val="00539C"/>
                </a:solidFill>
                <a:latin typeface="Montserrat"/>
                <a:ea typeface="Montserrat"/>
                <a:cs typeface="Montserrat"/>
              </a:rPr>
              <a:t>Logger + correlacionador</a:t>
            </a:r>
            <a:endParaRPr lang="pt-BR" sz="1600"/>
          </a:p>
        </p:txBody>
      </p:sp>
      <p:sp>
        <p:nvSpPr>
          <p:cNvPr id="80" name="ar_tag1"/>
          <p:cNvSpPr txBox="1"/>
          <p:nvPr/>
        </p:nvSpPr>
        <p:spPr>
          <a:xfrm>
            <a:off x="8028432" y="2441448"/>
            <a:ext cx="3474720" cy="292608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marL="0" indent="0">
              <a:buNone/>
            </a:pPr>
            <a:r>
              <a:rPr sz="1250" b="1" i="0" lang="pt-BR">
                <a:solidFill>
                  <a:srgbClr val="5B6B75"/>
                </a:solidFill>
                <a:latin typeface="Work Sans"/>
                <a:ea typeface="Work Sans"/>
                <a:cs typeface="Work Sans"/>
              </a:rPr>
              <a:t>Configuração permanente</a:t>
            </a:r>
            <a:endParaRPr lang="pt-BR" sz="1250"/>
          </a:p>
        </p:txBody>
      </p:sp>
      <p:sp>
        <p:nvSpPr>
          <p:cNvPr id="81" name="ar_l1"/>
          <p:cNvSpPr txBox="1"/>
          <p:nvPr/>
        </p:nvSpPr>
        <p:spPr>
          <a:xfrm>
            <a:off x="8028432" y="2880360"/>
            <a:ext cx="3474720" cy="1783079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marL="203200" indent="-2032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sz="1400" b="0" i="0" lang="pt-BR">
                <a:solidFill>
                  <a:srgbClr val="28282D"/>
                </a:solidFill>
                <a:latin typeface="Work Sans"/>
                <a:ea typeface="Work Sans"/>
                <a:cs typeface="Work Sans"/>
              </a:rPr>
              <a:t>Proteção IP-68</a:t>
            </a:r>
            <a:endParaRPr lang="pt-BR" sz="1400"/>
          </a:p>
          <a:p>
            <a:pPr marL="203200" indent="-2032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sz="1400" b="0" i="0" lang="pt-BR">
                <a:solidFill>
                  <a:srgbClr val="28282D"/>
                </a:solidFill>
                <a:latin typeface="Work Sans"/>
                <a:ea typeface="Work Sans"/>
                <a:cs typeface="Work Sans"/>
              </a:rPr>
              <a:t>Transmissão CAT-1 Low Energy</a:t>
            </a:r>
            <a:endParaRPr lang="pt-BR" sz="1400"/>
          </a:p>
          <a:p>
            <a:pPr marL="203200" indent="-2032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sz="1400" b="0" i="0" lang="pt-BR">
                <a:solidFill>
                  <a:srgbClr val="28282D"/>
                </a:solidFill>
                <a:latin typeface="Work Sans"/>
                <a:ea typeface="Work Sans"/>
                <a:cs typeface="Work Sans"/>
              </a:rPr>
              <a:t>Hidrofones de alta sensibilidade</a:t>
            </a:r>
            <a:endParaRPr lang="pt-BR" sz="1400"/>
          </a:p>
          <a:p>
            <a:pPr marL="203200" indent="-2032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sz="1400" b="0" i="0" lang="pt-BR">
                <a:solidFill>
                  <a:srgbClr val="28282D"/>
                </a:solidFill>
                <a:latin typeface="Work Sans"/>
                <a:ea typeface="Work Sans"/>
                <a:cs typeface="Work Sans"/>
              </a:rPr>
              <a:t>Alcance informado de até 800 m em PVC</a:t>
            </a:r>
            <a:endParaRPr lang="pt-BR" sz="1400"/>
          </a:p>
        </p:txBody>
      </p:sp>
      <p:sp>
        <p:nvSpPr>
          <p:cNvPr id="82" name="conf"/>
          <p:cNvSpPr/>
          <p:nvPr/>
        </p:nvSpPr>
        <p:spPr>
          <a:xfrm>
            <a:off x="1801368" y="5120640"/>
            <a:ext cx="8595360" cy="475488"/>
          </a:xfrm>
          <a:prstGeom prst="roundRect">
            <a:avLst>
              <a:gd name="adj" fmla="val 50000"/>
            </a:avLst>
          </a:prstGeom>
          <a:solidFill>
            <a:srgbClr val="D8E4EC"/>
          </a:solidFill>
          <a:ln w="9525">
            <a:solidFill>
              <a:srgbClr val="D8E4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" name="conf_txt"/>
          <p:cNvSpPr txBox="1"/>
          <p:nvPr/>
        </p:nvSpPr>
        <p:spPr>
          <a:xfrm>
            <a:off x="1801368" y="5120640"/>
            <a:ext cx="8595360" cy="475488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algn="ctr" marL="0" indent="0">
              <a:buNone/>
            </a:pPr>
            <a:r>
              <a:rPr sz="1400" b="0" i="1" lang="pt-BR">
                <a:solidFill>
                  <a:srgbClr val="28282D"/>
                </a:solidFill>
                <a:latin typeface="Work Sans"/>
                <a:ea typeface="Work Sans"/>
                <a:cs typeface="Work Sans"/>
              </a:rPr>
              <a:t>Conformidade informada: padronização NBR/ABNT  ·  Inmetro  ·  homologação Anatel</a:t>
            </a:r>
            <a:endParaRPr lang="pt-BR" sz="1400"/>
          </a:p>
        </p:txBody>
      </p:sp>
      <p:sp>
        <p:nvSpPr>
          <p:cNvPr id="84" name="source"/>
          <p:cNvSpPr txBox="1"/>
          <p:nvPr/>
        </p:nvSpPr>
        <p:spPr>
          <a:xfrm>
            <a:off x="640080" y="6382512"/>
            <a:ext cx="7223760" cy="201168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marL="0" indent="0">
              <a:buNone/>
            </a:pPr>
            <a:r>
              <a:rPr sz="800" b="0" i="0" lang="pt-BR">
                <a:solidFill>
                  <a:srgbClr val="28282D"/>
                </a:solidFill>
                <a:latin typeface="Work Sans"/>
                <a:ea typeface="Work Sans"/>
                <a:cs typeface="Work Sans"/>
              </a:rPr>
              <a:t>Fonte técnica: PitchRadioforceV2.pdf, págs. 4–5 (material fornecido).</a:t>
            </a:r>
            <a:endParaRPr lang="pt-BR" sz="8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07040" y="6254496"/>
            <a:ext cx="13716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28282D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1" lang="pt-BR"/>
              <a:t>2</a:t>
            </a:fld>
            <a:endParaRPr lang="pt-BR"/>
          </a:p>
        </p:txBody>
      </p:sp>
      <p:sp>
        <p:nvSpPr>
          <p:cNvPr id="69" name="!!label"/>
          <p:cNvSpPr txBox="1"/>
          <p:nvPr/>
        </p:nvSpPr>
        <p:spPr>
          <a:xfrm>
            <a:off x="411480" y="292608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marL="0" indent="0">
              <a:buNone/>
            </a:pPr>
            <a:r>
              <a:rPr sz="1300" b="0" i="1" lang="pt-BR">
                <a:solidFill>
                  <a:srgbClr val="5B6B75"/>
                </a:solidFill>
                <a:latin typeface="Work Sans"/>
                <a:ea typeface="Work Sans"/>
                <a:cs typeface="Work Sans"/>
              </a:rPr>
              <a:t>Instalação</a:t>
            </a:r>
            <a:endParaRPr lang="pt-BR" sz="1300"/>
          </a:p>
        </p:txBody>
      </p:sp>
      <p:sp>
        <p:nvSpPr>
          <p:cNvPr id="70" name="!!title"/>
          <p:cNvSpPr txBox="1"/>
          <p:nvPr/>
        </p:nvSpPr>
        <p:spPr>
          <a:xfrm>
            <a:off x="411480" y="530352"/>
            <a:ext cx="11338560" cy="566928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marL="0" indent="0">
              <a:buNone/>
            </a:pPr>
            <a:r>
              <a:rPr sz="2500" b="1" i="0" lang="pt-BR">
                <a:solidFill>
                  <a:srgbClr val="28282D"/>
                </a:solidFill>
                <a:latin typeface="Montserrat"/>
                <a:ea typeface="Montserrat"/>
                <a:cs typeface="Montserrat"/>
              </a:rPr>
              <a:t>O PONTO DE INSTALAÇÃO DEFINE A ESTRATÉGIA DE COLETA</a:t>
            </a:r>
            <a:endParaRPr lang="pt-BR" sz="2500"/>
          </a:p>
        </p:txBody>
      </p:sp>
      <p:sp>
        <p:nvSpPr>
          <p:cNvPr id="71" name="subtitle"/>
          <p:cNvSpPr txBox="1"/>
          <p:nvPr/>
        </p:nvSpPr>
        <p:spPr>
          <a:xfrm>
            <a:off x="411480" y="1298448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marL="0" indent="0">
              <a:buNone/>
            </a:pPr>
            <a:r>
              <a:rPr sz="1300" b="0" i="1" lang="pt-BR">
                <a:solidFill>
                  <a:srgbClr val="6B7680"/>
                </a:solidFill>
                <a:latin typeface="Work Sans"/>
                <a:ea typeface="Work Sans"/>
                <a:cs typeface="Work Sans"/>
              </a:rPr>
              <a:t>A fonte apresenta configurações em cavalete e em ponto permanente da rede.</a:t>
            </a:r>
            <a:endParaRPr lang="pt-BR" sz="1300"/>
          </a:p>
        </p:txBody>
      </p:sp>
      <p:sp>
        <p:nvSpPr>
          <p:cNvPr id="72" name="ph_c0"/>
          <p:cNvSpPr/>
          <p:nvPr/>
        </p:nvSpPr>
        <p:spPr>
          <a:xfrm>
            <a:off x="411480" y="1783080"/>
            <a:ext cx="3154680" cy="3703320"/>
          </a:xfrm>
          <a:prstGeom prst="roundRect">
            <a:avLst>
              <a:gd name="adj" fmla="val 6000"/>
            </a:avLst>
          </a:prstGeom>
          <a:solidFill>
            <a:srgbClr val="F2F0EB"/>
          </a:solidFill>
          <a:ln w="12700">
            <a:solidFill>
              <a:srgbClr val="D5D8DC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73" name="ph_img0" descr="cavale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364" y="2011680"/>
            <a:ext cx="2444910" cy="2468880"/>
          </a:xfrm>
          <a:prstGeom prst="roundRect">
            <a:avLst>
              <a:gd name="adj" fmla="val 3200"/>
            </a:avLst>
          </a:prstGeom>
        </p:spPr>
      </p:pic>
      <p:sp>
        <p:nvSpPr>
          <p:cNvPr id="74" name="ph_t0"/>
          <p:cNvSpPr txBox="1"/>
          <p:nvPr/>
        </p:nvSpPr>
        <p:spPr>
          <a:xfrm>
            <a:off x="640080" y="4572000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algn="ctr" marL="0" indent="0">
              <a:buNone/>
            </a:pPr>
            <a:r>
              <a:rPr sz="1500" b="1" i="0" lang="pt-BR">
                <a:solidFill>
                  <a:srgbClr val="00539C"/>
                </a:solidFill>
                <a:latin typeface="Montserrat"/>
                <a:ea typeface="Montserrat"/>
                <a:cs typeface="Montserrat"/>
              </a:rPr>
              <a:t>CAVALETE</a:t>
            </a:r>
            <a:endParaRPr lang="pt-BR" sz="1500"/>
          </a:p>
        </p:txBody>
      </p:sp>
      <p:sp>
        <p:nvSpPr>
          <p:cNvPr id="75" name="ph_d0"/>
          <p:cNvSpPr txBox="1"/>
          <p:nvPr/>
        </p:nvSpPr>
        <p:spPr>
          <a:xfrm>
            <a:off x="640080" y="4965192"/>
            <a:ext cx="2697480" cy="68580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algn="ctr" marL="0" indent="0">
              <a:buNone/>
            </a:pPr>
            <a:r>
              <a:rPr sz="1250" b="0" i="0" lang="pt-BR">
                <a:solidFill>
                  <a:srgbClr val="5B6B75"/>
                </a:solidFill>
                <a:latin typeface="Work Sans"/>
                <a:ea typeface="Work Sans"/>
                <a:cs typeface="Work Sans"/>
              </a:rPr>
              <a:t>Acesso concentrado ao conjunto hidráulico</a:t>
            </a:r>
            <a:endParaRPr lang="pt-BR" sz="1250"/>
          </a:p>
        </p:txBody>
      </p:sp>
      <p:sp>
        <p:nvSpPr>
          <p:cNvPr id="76" name="ph_c1"/>
          <p:cNvSpPr/>
          <p:nvPr/>
        </p:nvSpPr>
        <p:spPr>
          <a:xfrm>
            <a:off x="3794760" y="1783080"/>
            <a:ext cx="3154680" cy="3703320"/>
          </a:xfrm>
          <a:prstGeom prst="roundRect">
            <a:avLst>
              <a:gd name="adj" fmla="val 6000"/>
            </a:avLst>
          </a:prstGeom>
          <a:solidFill>
            <a:srgbClr val="F2F0EB"/>
          </a:solidFill>
          <a:ln w="12700">
            <a:solidFill>
              <a:srgbClr val="D5D8DC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77" name="ph_img1" descr="permanen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0387" y="2011680"/>
            <a:ext cx="1383424" cy="2468880"/>
          </a:xfrm>
          <a:prstGeom prst="roundRect">
            <a:avLst>
              <a:gd name="adj" fmla="val 3200"/>
            </a:avLst>
          </a:prstGeom>
        </p:spPr>
      </p:pic>
      <p:sp>
        <p:nvSpPr>
          <p:cNvPr id="78" name="ph_t1"/>
          <p:cNvSpPr txBox="1"/>
          <p:nvPr/>
        </p:nvSpPr>
        <p:spPr>
          <a:xfrm>
            <a:off x="4023360" y="4572000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algn="ctr" marL="0" indent="0">
              <a:buNone/>
            </a:pPr>
            <a:r>
              <a:rPr sz="1500" b="1" i="0" lang="pt-BR">
                <a:solidFill>
                  <a:srgbClr val="00539C"/>
                </a:solidFill>
                <a:latin typeface="Montserrat"/>
                <a:ea typeface="Montserrat"/>
                <a:cs typeface="Montserrat"/>
              </a:rPr>
              <a:t>PERMANENTE</a:t>
            </a:r>
            <a:endParaRPr lang="pt-BR" sz="1500"/>
          </a:p>
        </p:txBody>
      </p:sp>
      <p:sp>
        <p:nvSpPr>
          <p:cNvPr id="79" name="ph_d1"/>
          <p:cNvSpPr txBox="1"/>
          <p:nvPr/>
        </p:nvSpPr>
        <p:spPr>
          <a:xfrm>
            <a:off x="4023360" y="4965192"/>
            <a:ext cx="2697480" cy="68580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algn="ctr" marL="0" indent="0">
              <a:buNone/>
            </a:pPr>
            <a:r>
              <a:rPr sz="1250" b="0" i="0" lang="pt-BR">
                <a:solidFill>
                  <a:srgbClr val="5B6B75"/>
                </a:solidFill>
                <a:latin typeface="Work Sans"/>
                <a:ea typeface="Work Sans"/>
                <a:cs typeface="Work Sans"/>
              </a:rPr>
              <a:t>Monitoramento em ponto dedicado da rede</a:t>
            </a:r>
            <a:endParaRPr lang="pt-BR" sz="1250"/>
          </a:p>
        </p:txBody>
      </p:sp>
      <p:cxnSp>
        <p:nvCxnSpPr>
          <p:cNvPr id="80" name="div"/>
          <p:cNvCxnSpPr/>
          <p:nvPr/>
        </p:nvCxnSpPr>
        <p:spPr>
          <a:xfrm>
            <a:off x="7178040" y="1920240"/>
            <a:ext cx="0" cy="3429000"/>
          </a:xfrm>
          <a:prstGeom prst="line">
            <a:avLst/>
          </a:prstGeom>
          <a:ln w="12700">
            <a:solidFill>
              <a:srgbClr val="D5D8DC"/>
            </a:solidFill>
          </a:ln>
        </p:spPr>
      </p:cxnSp>
      <p:sp>
        <p:nvSpPr>
          <p:cNvPr id="81" name="crit_t"/>
          <p:cNvSpPr txBox="1"/>
          <p:nvPr/>
        </p:nvSpPr>
        <p:spPr>
          <a:xfrm>
            <a:off x="7498079" y="1874519"/>
            <a:ext cx="4279392" cy="365760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marL="0" indent="0">
              <a:buNone/>
            </a:pPr>
            <a:r>
              <a:rPr sz="1500" b="1" i="0" lang="pt-BR">
                <a:solidFill>
                  <a:srgbClr val="00539C"/>
                </a:solidFill>
                <a:latin typeface="Montserrat"/>
                <a:ea typeface="Montserrat"/>
                <a:cs typeface="Montserrat"/>
              </a:rPr>
              <a:t>CRITÉRIOS DE PROJETO</a:t>
            </a:r>
            <a:endParaRPr lang="pt-BR" sz="1500"/>
          </a:p>
        </p:txBody>
      </p:sp>
      <p:sp>
        <p:nvSpPr>
          <p:cNvPr id="82" name="crit_l"/>
          <p:cNvSpPr txBox="1"/>
          <p:nvPr/>
        </p:nvSpPr>
        <p:spPr>
          <a:xfrm>
            <a:off x="7498079" y="2377440"/>
            <a:ext cx="4279392" cy="210312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marL="203200" indent="-2032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sz="1500" b="0" i="0" lang="pt-BR">
                <a:solidFill>
                  <a:srgbClr val="28282D"/>
                </a:solidFill>
                <a:latin typeface="Work Sans"/>
                <a:ea typeface="Work Sans"/>
                <a:cs typeface="Work Sans"/>
              </a:rPr>
              <a:t>Arquitetura e setorização da rede</a:t>
            </a:r>
            <a:endParaRPr lang="pt-BR" sz="1500"/>
          </a:p>
          <a:p>
            <a:pPr marL="203200" indent="-2032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sz="1500" b="0" i="0" lang="pt-BR">
                <a:solidFill>
                  <a:srgbClr val="28282D"/>
                </a:solidFill>
                <a:latin typeface="Work Sans"/>
                <a:ea typeface="Work Sans"/>
                <a:cs typeface="Work Sans"/>
              </a:rPr>
              <a:t>Acesso físico e segurança do ponto</a:t>
            </a:r>
            <a:endParaRPr lang="pt-BR" sz="1500"/>
          </a:p>
          <a:p>
            <a:pPr marL="203200" indent="-2032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sz="1500" b="0" i="0" lang="pt-BR">
                <a:solidFill>
                  <a:srgbClr val="28282D"/>
                </a:solidFill>
                <a:latin typeface="Work Sans"/>
                <a:ea typeface="Work Sans"/>
                <a:cs typeface="Work Sans"/>
              </a:rPr>
              <a:t>Frequência desejada de coleta</a:t>
            </a:r>
            <a:endParaRPr lang="pt-BR" sz="1500"/>
          </a:p>
          <a:p>
            <a:pPr marL="203200" indent="-2032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sz="1500" b="0" i="0" lang="pt-BR">
                <a:solidFill>
                  <a:srgbClr val="28282D"/>
                </a:solidFill>
                <a:latin typeface="Work Sans"/>
                <a:ea typeface="Work Sans"/>
                <a:cs typeface="Work Sans"/>
              </a:rPr>
              <a:t>Estratégia de manutenção e conectividade</a:t>
            </a:r>
            <a:endParaRPr lang="pt-BR" sz="1500"/>
          </a:p>
        </p:txBody>
      </p:sp>
      <p:sp>
        <p:nvSpPr>
          <p:cNvPr id="83" name="crit_msg"/>
          <p:cNvSpPr txBox="1"/>
          <p:nvPr/>
        </p:nvSpPr>
        <p:spPr>
          <a:xfrm>
            <a:off x="7498079" y="4389120"/>
            <a:ext cx="4279392" cy="100584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sz="1400" b="1" i="0" lang="pt-BR">
                <a:solidFill>
                  <a:srgbClr val="28282D"/>
                </a:solidFill>
                <a:latin typeface="Work Sans"/>
                <a:ea typeface="Work Sans"/>
                <a:cs typeface="Work Sans"/>
              </a:rPr>
              <a:t>A configuração deve ser definida a partir do objetivo operacional e das condições de campo.</a:t>
            </a:r>
            <a:endParaRPr lang="pt-BR" sz="1400"/>
          </a:p>
        </p:txBody>
      </p:sp>
      <p:sp>
        <p:nvSpPr>
          <p:cNvPr id="84" name="source"/>
          <p:cNvSpPr txBox="1"/>
          <p:nvPr/>
        </p:nvSpPr>
        <p:spPr>
          <a:xfrm>
            <a:off x="640080" y="6382512"/>
            <a:ext cx="7223760" cy="201168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marL="0" indent="0">
              <a:buNone/>
            </a:pPr>
            <a:r>
              <a:rPr sz="800" b="0" i="0" lang="pt-BR">
                <a:solidFill>
                  <a:srgbClr val="28282D"/>
                </a:solidFill>
                <a:latin typeface="Work Sans"/>
                <a:ea typeface="Work Sans"/>
                <a:cs typeface="Work Sans"/>
              </a:rPr>
              <a:t>Fonte técnica: PitchRadioforceV2.pdf, págs. 6–7 (material fornecido).</a:t>
            </a:r>
            <a:endParaRPr lang="pt-BR" sz="8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07040" y="6254496"/>
            <a:ext cx="13716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28282D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1" lang="pt-BR"/>
              <a:t>2</a:t>
            </a:fld>
            <a:endParaRPr lang="pt-BR"/>
          </a:p>
        </p:txBody>
      </p:sp>
      <p:sp>
        <p:nvSpPr>
          <p:cNvPr id="69" name="!!label"/>
          <p:cNvSpPr txBox="1"/>
          <p:nvPr/>
        </p:nvSpPr>
        <p:spPr>
          <a:xfrm>
            <a:off x="411480" y="292608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marL="0" indent="0">
              <a:buNone/>
            </a:pPr>
            <a:r>
              <a:rPr sz="1300" b="0" i="1" lang="pt-BR">
                <a:solidFill>
                  <a:srgbClr val="5B6B75"/>
                </a:solidFill>
                <a:latin typeface="Work Sans"/>
                <a:ea typeface="Work Sans"/>
                <a:cs typeface="Work Sans"/>
              </a:rPr>
              <a:t>HydroVision  ·  Sistema web</a:t>
            </a:r>
            <a:endParaRPr lang="pt-BR" sz="1300"/>
          </a:p>
        </p:txBody>
      </p:sp>
      <p:sp>
        <p:nvSpPr>
          <p:cNvPr id="70" name="!!title"/>
          <p:cNvSpPr txBox="1"/>
          <p:nvPr/>
        </p:nvSpPr>
        <p:spPr>
          <a:xfrm>
            <a:off x="411480" y="530352"/>
            <a:ext cx="11338560" cy="566928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marL="0" indent="0">
              <a:buNone/>
            </a:pPr>
            <a:r>
              <a:rPr sz="2500" b="1" i="0" lang="pt-BR">
                <a:solidFill>
                  <a:srgbClr val="28282D"/>
                </a:solidFill>
                <a:latin typeface="Montserrat"/>
                <a:ea typeface="Montserrat"/>
                <a:cs typeface="Montserrat"/>
              </a:rPr>
              <a:t>HYDROVISION UNE SUPERVISÃO, MAPAS E ANÁLISE HIDRÁULICA</a:t>
            </a:r>
            <a:endParaRPr lang="pt-BR" sz="2500"/>
          </a:p>
        </p:txBody>
      </p:sp>
      <p:sp>
        <p:nvSpPr>
          <p:cNvPr id="71" name="subtitle"/>
          <p:cNvSpPr txBox="1"/>
          <p:nvPr/>
        </p:nvSpPr>
        <p:spPr>
          <a:xfrm>
            <a:off x="411480" y="1298448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marL="0" indent="0">
              <a:buNone/>
            </a:pPr>
            <a:r>
              <a:rPr sz="1300" b="0" i="1" lang="pt-BR">
                <a:solidFill>
                  <a:srgbClr val="6B7680"/>
                </a:solidFill>
                <a:latin typeface="Work Sans"/>
                <a:ea typeface="Work Sans"/>
                <a:cs typeface="Work Sans"/>
              </a:rPr>
              <a:t>As telas conectam visão gerencial, contexto geográfico e leitura de pressão.</a:t>
            </a:r>
            <a:endParaRPr lang="pt-BR" sz="1300"/>
          </a:p>
        </p:txBody>
      </p:sp>
      <p:sp>
        <p:nvSpPr>
          <p:cNvPr id="72" name="sc_c0"/>
          <p:cNvSpPr/>
          <p:nvPr/>
        </p:nvSpPr>
        <p:spPr>
          <a:xfrm>
            <a:off x="411480" y="1783080"/>
            <a:ext cx="3602736" cy="3703320"/>
          </a:xfrm>
          <a:prstGeom prst="roundRect">
            <a:avLst>
              <a:gd name="adj" fmla="val 6000"/>
            </a:avLst>
          </a:prstGeom>
          <a:solidFill>
            <a:srgbClr val="F2F0EB"/>
          </a:solidFill>
          <a:ln w="12700">
            <a:solidFill>
              <a:srgbClr val="D5D8DC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73" name="sc_img0" descr="web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250104"/>
            <a:ext cx="3145536" cy="1489110"/>
          </a:xfrm>
          <a:prstGeom prst="roundRect">
            <a:avLst>
              <a:gd name="adj" fmla="val 3200"/>
            </a:avLst>
          </a:prstGeom>
        </p:spPr>
      </p:pic>
      <p:sp>
        <p:nvSpPr>
          <p:cNvPr id="74" name="sc_t0"/>
          <p:cNvSpPr txBox="1"/>
          <p:nvPr/>
        </p:nvSpPr>
        <p:spPr>
          <a:xfrm>
            <a:off x="640080" y="4160520"/>
            <a:ext cx="3145536" cy="365760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marL="0" indent="0">
              <a:buNone/>
            </a:pPr>
            <a:r>
              <a:rPr sz="1400" b="1" i="0" lang="pt-BR">
                <a:solidFill>
                  <a:srgbClr val="00539C"/>
                </a:solidFill>
                <a:latin typeface="Montserrat"/>
                <a:ea typeface="Montserrat"/>
                <a:cs typeface="Montserrat"/>
              </a:rPr>
              <a:t>DASHBOARD GERENCIAL</a:t>
            </a:r>
            <a:endParaRPr lang="pt-BR" sz="1400"/>
          </a:p>
        </p:txBody>
      </p:sp>
      <p:sp>
        <p:nvSpPr>
          <p:cNvPr id="75" name="sc_d0"/>
          <p:cNvSpPr txBox="1"/>
          <p:nvPr/>
        </p:nvSpPr>
        <p:spPr>
          <a:xfrm>
            <a:off x="640080" y="4599432"/>
            <a:ext cx="3145536" cy="77724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marL="0" indent="0">
              <a:lnSpc>
                <a:spcPct val="108000"/>
              </a:lnSpc>
              <a:buNone/>
            </a:pPr>
            <a:r>
              <a:rPr sz="1300" b="0" i="0" lang="pt-BR">
                <a:solidFill>
                  <a:srgbClr val="28282D"/>
                </a:solidFill>
                <a:latin typeface="Work Sans"/>
                <a:ea typeface="Work Sans"/>
                <a:cs typeface="Work Sans"/>
              </a:rPr>
              <a:t>Visão consolidada de ocorrências e status operacional.</a:t>
            </a:r>
            <a:endParaRPr lang="pt-BR" sz="1300"/>
          </a:p>
        </p:txBody>
      </p:sp>
      <p:sp>
        <p:nvSpPr>
          <p:cNvPr id="76" name="sc_c1"/>
          <p:cNvSpPr/>
          <p:nvPr/>
        </p:nvSpPr>
        <p:spPr>
          <a:xfrm>
            <a:off x="4293108" y="1783080"/>
            <a:ext cx="3602736" cy="3703320"/>
          </a:xfrm>
          <a:prstGeom prst="roundRect">
            <a:avLst>
              <a:gd name="adj" fmla="val 6000"/>
            </a:avLst>
          </a:prstGeom>
          <a:solidFill>
            <a:srgbClr val="F2F0EB"/>
          </a:solidFill>
          <a:ln w="12700">
            <a:solidFill>
              <a:srgbClr val="D5D8DC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77" name="sc_img1" descr="web_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1126" y="2011680"/>
            <a:ext cx="2666698" cy="1965960"/>
          </a:xfrm>
          <a:prstGeom prst="roundRect">
            <a:avLst>
              <a:gd name="adj" fmla="val 3200"/>
            </a:avLst>
          </a:prstGeom>
        </p:spPr>
      </p:pic>
      <p:sp>
        <p:nvSpPr>
          <p:cNvPr id="78" name="sc_t1"/>
          <p:cNvSpPr txBox="1"/>
          <p:nvPr/>
        </p:nvSpPr>
        <p:spPr>
          <a:xfrm>
            <a:off x="4521708" y="4160520"/>
            <a:ext cx="3145536" cy="365760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marL="0" indent="0">
              <a:buNone/>
            </a:pPr>
            <a:r>
              <a:rPr sz="1400" b="1" i="0" lang="pt-BR">
                <a:solidFill>
                  <a:srgbClr val="00539C"/>
                </a:solidFill>
                <a:latin typeface="Montserrat"/>
                <a:ea typeface="Montserrat"/>
                <a:cs typeface="Montserrat"/>
              </a:rPr>
              <a:t>SETORES, MAPAS E ALERTAS</a:t>
            </a:r>
            <a:endParaRPr lang="pt-BR" sz="1400"/>
          </a:p>
        </p:txBody>
      </p:sp>
      <p:sp>
        <p:nvSpPr>
          <p:cNvPr id="79" name="sc_d1"/>
          <p:cNvSpPr txBox="1"/>
          <p:nvPr/>
        </p:nvSpPr>
        <p:spPr>
          <a:xfrm>
            <a:off x="4521708" y="4599432"/>
            <a:ext cx="3145536" cy="77724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marL="0" indent="0">
              <a:lnSpc>
                <a:spcPct val="108000"/>
              </a:lnSpc>
              <a:buNone/>
            </a:pPr>
            <a:r>
              <a:rPr sz="1300" b="0" i="0" lang="pt-BR">
                <a:solidFill>
                  <a:srgbClr val="28282D"/>
                </a:solidFill>
                <a:latin typeface="Work Sans"/>
                <a:ea typeface="Work Sans"/>
                <a:cs typeface="Work Sans"/>
              </a:rPr>
              <a:t>Localização de ativos, setores e sinais de ruído.</a:t>
            </a:r>
            <a:endParaRPr lang="pt-BR" sz="1300"/>
          </a:p>
        </p:txBody>
      </p:sp>
      <p:sp>
        <p:nvSpPr>
          <p:cNvPr id="80" name="sc_c2"/>
          <p:cNvSpPr/>
          <p:nvPr/>
        </p:nvSpPr>
        <p:spPr>
          <a:xfrm>
            <a:off x="8174736" y="1783080"/>
            <a:ext cx="3602736" cy="3703320"/>
          </a:xfrm>
          <a:prstGeom prst="roundRect">
            <a:avLst>
              <a:gd name="adj" fmla="val 6000"/>
            </a:avLst>
          </a:prstGeom>
          <a:solidFill>
            <a:srgbClr val="F2F0EB"/>
          </a:solidFill>
          <a:ln w="12700">
            <a:solidFill>
              <a:srgbClr val="D5D8DC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1" name="sc_img2" descr="web_press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7753" y="2011680"/>
            <a:ext cx="3136700" cy="1965960"/>
          </a:xfrm>
          <a:prstGeom prst="roundRect">
            <a:avLst>
              <a:gd name="adj" fmla="val 3200"/>
            </a:avLst>
          </a:prstGeom>
        </p:spPr>
      </p:pic>
      <p:sp>
        <p:nvSpPr>
          <p:cNvPr id="82" name="sc_t2"/>
          <p:cNvSpPr txBox="1"/>
          <p:nvPr/>
        </p:nvSpPr>
        <p:spPr>
          <a:xfrm>
            <a:off x="8403336" y="4160520"/>
            <a:ext cx="3145536" cy="365760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marL="0" indent="0">
              <a:buNone/>
            </a:pPr>
            <a:r>
              <a:rPr sz="1400" b="1" i="0" lang="pt-BR">
                <a:solidFill>
                  <a:srgbClr val="00539C"/>
                </a:solidFill>
                <a:latin typeface="Montserrat"/>
                <a:ea typeface="Montserrat"/>
                <a:cs typeface="Montserrat"/>
              </a:rPr>
              <a:t>PRESSÃO + PERDA DE CARGA</a:t>
            </a:r>
            <a:endParaRPr lang="pt-BR" sz="1400"/>
          </a:p>
        </p:txBody>
      </p:sp>
      <p:sp>
        <p:nvSpPr>
          <p:cNvPr id="83" name="sc_d2"/>
          <p:cNvSpPr txBox="1"/>
          <p:nvPr/>
        </p:nvSpPr>
        <p:spPr>
          <a:xfrm>
            <a:off x="8403336" y="4599432"/>
            <a:ext cx="3145536" cy="77724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marL="0" indent="0">
              <a:lnSpc>
                <a:spcPct val="108000"/>
              </a:lnSpc>
              <a:buNone/>
            </a:pPr>
            <a:r>
              <a:rPr sz="1300" b="0" i="0" lang="pt-BR">
                <a:solidFill>
                  <a:srgbClr val="28282D"/>
                </a:solidFill>
                <a:latin typeface="Work Sans"/>
                <a:ea typeface="Work Sans"/>
                <a:cs typeface="Work Sans"/>
              </a:rPr>
              <a:t>Séries temporais para análise do comportamento hidráulico.</a:t>
            </a:r>
            <a:endParaRPr lang="pt-BR" sz="1300"/>
          </a:p>
        </p:txBody>
      </p:sp>
      <p:sp>
        <p:nvSpPr>
          <p:cNvPr id="84" name="source"/>
          <p:cNvSpPr txBox="1"/>
          <p:nvPr/>
        </p:nvSpPr>
        <p:spPr>
          <a:xfrm>
            <a:off x="640080" y="6382512"/>
            <a:ext cx="7223760" cy="201168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marL="0" indent="0">
              <a:buNone/>
            </a:pPr>
            <a:r>
              <a:rPr sz="800" b="0" i="0" lang="pt-BR">
                <a:solidFill>
                  <a:srgbClr val="28282D"/>
                </a:solidFill>
                <a:latin typeface="Work Sans"/>
                <a:ea typeface="Work Sans"/>
                <a:cs typeface="Work Sans"/>
              </a:rPr>
              <a:t>Fonte técnica: PitchRadioforceV2.pdf, págs. 8–10 (material fornecido).</a:t>
            </a:r>
            <a:endParaRPr lang="pt-BR" sz="8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07040" y="6254496"/>
            <a:ext cx="13716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28282D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1" lang="pt-BR"/>
              <a:t>2</a:t>
            </a:fld>
            <a:endParaRPr lang="pt-BR"/>
          </a:p>
        </p:txBody>
      </p:sp>
      <p:sp>
        <p:nvSpPr>
          <p:cNvPr id="69" name="!!label"/>
          <p:cNvSpPr txBox="1"/>
          <p:nvPr/>
        </p:nvSpPr>
        <p:spPr>
          <a:xfrm>
            <a:off x="411480" y="292608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marL="0" indent="0">
              <a:buNone/>
            </a:pPr>
            <a:r>
              <a:rPr sz="1300" b="0" i="1" lang="pt-BR">
                <a:solidFill>
                  <a:srgbClr val="5B6B75"/>
                </a:solidFill>
                <a:latin typeface="Work Sans"/>
                <a:ea typeface="Work Sans"/>
                <a:cs typeface="Work Sans"/>
              </a:rPr>
              <a:t>Inteligência acústica</a:t>
            </a:r>
            <a:endParaRPr lang="pt-BR" sz="1300"/>
          </a:p>
        </p:txBody>
      </p:sp>
      <p:sp>
        <p:nvSpPr>
          <p:cNvPr id="70" name="!!title"/>
          <p:cNvSpPr txBox="1"/>
          <p:nvPr/>
        </p:nvSpPr>
        <p:spPr>
          <a:xfrm>
            <a:off x="411480" y="530352"/>
            <a:ext cx="11338560" cy="566928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marL="0" indent="0">
              <a:buNone/>
            </a:pPr>
            <a:r>
              <a:rPr sz="2500" b="1" i="0" lang="pt-BR">
                <a:solidFill>
                  <a:srgbClr val="28282D"/>
                </a:solidFill>
                <a:latin typeface="Montserrat"/>
                <a:ea typeface="Montserrat"/>
                <a:cs typeface="Montserrat"/>
              </a:rPr>
              <a:t>CORRELAÇÃO TRANSFORMA RUÍDO EM PRIORIDADE DE CAMPO</a:t>
            </a:r>
            <a:endParaRPr lang="pt-BR" sz="2500"/>
          </a:p>
        </p:txBody>
      </p:sp>
      <p:sp>
        <p:nvSpPr>
          <p:cNvPr id="71" name="subtitle"/>
          <p:cNvSpPr txBox="1"/>
          <p:nvPr/>
        </p:nvSpPr>
        <p:spPr>
          <a:xfrm>
            <a:off x="411480" y="1298448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marL="0" indent="0">
              <a:buNone/>
            </a:pPr>
            <a:r>
              <a:rPr sz="1300" b="0" i="1" lang="pt-BR">
                <a:solidFill>
                  <a:srgbClr val="6B7680"/>
                </a:solidFill>
                <a:latin typeface="Work Sans"/>
                <a:ea typeface="Work Sans"/>
                <a:cs typeface="Work Sans"/>
              </a:rPr>
              <a:t>O fluxo analítico combina séries de ruído, clusterização, proximidade estimada e mobilidade.</a:t>
            </a:r>
            <a:endParaRPr lang="pt-BR" sz="1300"/>
          </a:p>
        </p:txBody>
      </p:sp>
      <p:sp>
        <p:nvSpPr>
          <p:cNvPr id="72" name="ac_l0"/>
          <p:cNvSpPr txBox="1"/>
          <p:nvPr/>
        </p:nvSpPr>
        <p:spPr>
          <a:xfrm>
            <a:off x="411480" y="1783080"/>
            <a:ext cx="3520440" cy="256032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marL="0" indent="0">
              <a:buNone/>
            </a:pPr>
            <a:r>
              <a:rPr sz="1200" b="1" i="0" lang="pt-BR">
                <a:solidFill>
                  <a:srgbClr val="00539C"/>
                </a:solidFill>
                <a:latin typeface="Montserrat"/>
                <a:ea typeface="Montserrat"/>
                <a:cs typeface="Montserrat"/>
              </a:rPr>
              <a:t>CLUSTERIZAÇÃO AUTOMÁTICA</a:t>
            </a:r>
            <a:endParaRPr lang="pt-BR" sz="1200"/>
          </a:p>
        </p:txBody>
      </p:sp>
      <p:pic>
        <p:nvPicPr>
          <p:cNvPr id="73" name="ac_img0" descr="clu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084831"/>
            <a:ext cx="3106146" cy="1755648"/>
          </a:xfrm>
          <a:prstGeom prst="roundRect">
            <a:avLst>
              <a:gd name="adj" fmla="val 3200"/>
            </a:avLst>
          </a:prstGeom>
        </p:spPr>
      </p:pic>
      <p:sp>
        <p:nvSpPr>
          <p:cNvPr id="74" name="ac_l1"/>
          <p:cNvSpPr txBox="1"/>
          <p:nvPr/>
        </p:nvSpPr>
        <p:spPr>
          <a:xfrm>
            <a:off x="4251960" y="1783080"/>
            <a:ext cx="3520440" cy="256032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marL="0" indent="0">
              <a:buNone/>
            </a:pPr>
            <a:r>
              <a:rPr sz="1200" b="1" i="0" lang="pt-BR">
                <a:solidFill>
                  <a:srgbClr val="00539C"/>
                </a:solidFill>
                <a:latin typeface="Montserrat"/>
                <a:ea typeface="Montserrat"/>
                <a:cs typeface="Montserrat"/>
              </a:rPr>
              <a:t>ANÁLISE DE CORRELAÇÃO</a:t>
            </a:r>
            <a:endParaRPr lang="pt-BR" sz="1200"/>
          </a:p>
        </p:txBody>
      </p:sp>
      <p:pic>
        <p:nvPicPr>
          <p:cNvPr id="75" name="ac_img1" descr="correl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2084831"/>
            <a:ext cx="1990941" cy="1755648"/>
          </a:xfrm>
          <a:prstGeom prst="roundRect">
            <a:avLst>
              <a:gd name="adj" fmla="val 3200"/>
            </a:avLst>
          </a:prstGeom>
        </p:spPr>
      </p:pic>
      <p:sp>
        <p:nvSpPr>
          <p:cNvPr id="76" name="ac_l2"/>
          <p:cNvSpPr txBox="1"/>
          <p:nvPr/>
        </p:nvSpPr>
        <p:spPr>
          <a:xfrm>
            <a:off x="411480" y="3931920"/>
            <a:ext cx="3520440" cy="256032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marL="0" indent="0">
              <a:buNone/>
            </a:pPr>
            <a:r>
              <a:rPr sz="1200" b="1" i="0" lang="pt-BR">
                <a:solidFill>
                  <a:srgbClr val="00539C"/>
                </a:solidFill>
                <a:latin typeface="Montserrat"/>
                <a:ea typeface="Montserrat"/>
                <a:cs typeface="Montserrat"/>
              </a:rPr>
              <a:t>ALERTA DE PROXIMIDADE</a:t>
            </a:r>
            <a:endParaRPr lang="pt-BR" sz="1200"/>
          </a:p>
        </p:txBody>
      </p:sp>
      <p:pic>
        <p:nvPicPr>
          <p:cNvPr id="77" name="ac_img2" descr="proximit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4233672"/>
            <a:ext cx="3476871" cy="1755648"/>
          </a:xfrm>
          <a:prstGeom prst="roundRect">
            <a:avLst>
              <a:gd name="adj" fmla="val 3200"/>
            </a:avLst>
          </a:prstGeom>
        </p:spPr>
      </p:pic>
      <p:sp>
        <p:nvSpPr>
          <p:cNvPr id="78" name="ac_card"/>
          <p:cNvSpPr/>
          <p:nvPr/>
        </p:nvSpPr>
        <p:spPr>
          <a:xfrm>
            <a:off x="4251960" y="3931920"/>
            <a:ext cx="3611880" cy="2057400"/>
          </a:xfrm>
          <a:prstGeom prst="roundRect">
            <a:avLst>
              <a:gd name="adj" fmla="val 6000"/>
            </a:avLst>
          </a:prstGeom>
          <a:solidFill>
            <a:srgbClr val="F2F0EB"/>
          </a:solidFill>
          <a:ln w="12700">
            <a:solidFill>
              <a:srgbClr val="D5D8D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" name="ac_bul"/>
          <p:cNvSpPr txBox="1"/>
          <p:nvPr/>
        </p:nvSpPr>
        <p:spPr>
          <a:xfrm>
            <a:off x="4526280" y="4114800"/>
            <a:ext cx="3108960" cy="1737360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marL="203200" indent="-2032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sz="1350" b="0" i="0" lang="pt-BR">
                <a:solidFill>
                  <a:srgbClr val="28282D"/>
                </a:solidFill>
                <a:latin typeface="Work Sans"/>
                <a:ea typeface="Work Sans"/>
                <a:cs typeface="Work Sans"/>
              </a:rPr>
              <a:t>Análise de ruído e correlação</a:t>
            </a:r>
            <a:endParaRPr lang="pt-BR" sz="1350"/>
          </a:p>
          <a:p>
            <a:pPr marL="203200" indent="-2032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sz="1350" b="0" i="0" lang="pt-BR">
                <a:solidFill>
                  <a:srgbClr val="28282D"/>
                </a:solidFill>
                <a:latin typeface="Work Sans"/>
                <a:ea typeface="Work Sans"/>
                <a:cs typeface="Work Sans"/>
              </a:rPr>
              <a:t>Alertas com estimativa de proximidade</a:t>
            </a:r>
            <a:endParaRPr lang="pt-BR" sz="1350"/>
          </a:p>
          <a:p>
            <a:pPr marL="203200" indent="-2032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sz="1350" b="0" i="0" lang="pt-BR">
                <a:solidFill>
                  <a:srgbClr val="28282D"/>
                </a:solidFill>
                <a:latin typeface="Work Sans"/>
                <a:ea typeface="Work Sans"/>
                <a:cs typeface="Work Sans"/>
              </a:rPr>
              <a:t>Acesso móvel para apoiar a equipe de campo</a:t>
            </a:r>
            <a:endParaRPr lang="pt-BR" sz="1350"/>
          </a:p>
        </p:txBody>
      </p:sp>
      <p:sp>
        <p:nvSpPr>
          <p:cNvPr id="80" name="ac_pill"/>
          <p:cNvSpPr/>
          <p:nvPr/>
        </p:nvSpPr>
        <p:spPr>
          <a:xfrm>
            <a:off x="8732520" y="1783080"/>
            <a:ext cx="2468880" cy="411480"/>
          </a:xfrm>
          <a:prstGeom prst="roundRect">
            <a:avLst>
              <a:gd name="adj" fmla="val 50000"/>
            </a:avLst>
          </a:prstGeom>
          <a:solidFill>
            <a:srgbClr val="D8E4EC"/>
          </a:solidFill>
          <a:ln w="9525">
            <a:solidFill>
              <a:srgbClr val="D8E4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" name="ac_pill_txt"/>
          <p:cNvSpPr txBox="1"/>
          <p:nvPr/>
        </p:nvSpPr>
        <p:spPr>
          <a:xfrm>
            <a:off x="8732520" y="1783080"/>
            <a:ext cx="2468880" cy="411480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algn="ctr" marL="0" indent="0">
              <a:buNone/>
            </a:pPr>
            <a:r>
              <a:rPr sz="1300" b="1" i="0" lang="pt-BR">
                <a:solidFill>
                  <a:srgbClr val="28282D"/>
                </a:solidFill>
                <a:latin typeface="Montserrat"/>
                <a:ea typeface="Montserrat"/>
                <a:cs typeface="Montserrat"/>
              </a:rPr>
              <a:t>WEB + ANDROID</a:t>
            </a:r>
            <a:endParaRPr lang="pt-BR" sz="1300"/>
          </a:p>
        </p:txBody>
      </p:sp>
      <p:pic>
        <p:nvPicPr>
          <p:cNvPr id="82" name="img_phone" descr="phone_ma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16568" y="2331720"/>
            <a:ext cx="1691235" cy="3520440"/>
          </a:xfrm>
          <a:prstGeom prst="rect">
            <a:avLst/>
          </a:prstGeom>
        </p:spPr>
      </p:pic>
      <p:sp>
        <p:nvSpPr>
          <p:cNvPr id="83" name="source"/>
          <p:cNvSpPr txBox="1"/>
          <p:nvPr/>
        </p:nvSpPr>
        <p:spPr>
          <a:xfrm>
            <a:off x="640080" y="6382512"/>
            <a:ext cx="7223760" cy="201168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marL="0" indent="0">
              <a:buNone/>
            </a:pPr>
            <a:r>
              <a:rPr sz="800" b="0" i="0" lang="pt-BR">
                <a:solidFill>
                  <a:srgbClr val="28282D"/>
                </a:solidFill>
                <a:latin typeface="Work Sans"/>
                <a:ea typeface="Work Sans"/>
                <a:cs typeface="Work Sans"/>
              </a:rPr>
              <a:t>Fonte técnica: PitchRadioforceV2.pdf, págs. 11–15 (material fornecido).</a:t>
            </a:r>
            <a:endParaRPr lang="pt-BR" sz="8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07040" y="6254496"/>
            <a:ext cx="13716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28282D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1" lang="pt-BR"/>
              <a:t>2</a:t>
            </a:fld>
            <a:endParaRPr lang="pt-BR"/>
          </a:p>
        </p:txBody>
      </p:sp>
      <p:sp>
        <p:nvSpPr>
          <p:cNvPr id="69" name="!!label"/>
          <p:cNvSpPr txBox="1"/>
          <p:nvPr/>
        </p:nvSpPr>
        <p:spPr>
          <a:xfrm>
            <a:off x="411480" y="292608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marL="0" indent="0">
              <a:buNone/>
            </a:pPr>
            <a:r>
              <a:rPr sz="1300" b="0" i="1" lang="pt-BR">
                <a:solidFill>
                  <a:srgbClr val="5B6B75"/>
                </a:solidFill>
                <a:latin typeface="Work Sans"/>
                <a:ea typeface="Work Sans"/>
                <a:cs typeface="Work Sans"/>
              </a:rPr>
              <a:t>Serviços especializados</a:t>
            </a:r>
            <a:endParaRPr lang="pt-BR" sz="1300"/>
          </a:p>
        </p:txBody>
      </p:sp>
      <p:sp>
        <p:nvSpPr>
          <p:cNvPr id="70" name="!!title"/>
          <p:cNvSpPr txBox="1"/>
          <p:nvPr/>
        </p:nvSpPr>
        <p:spPr>
          <a:xfrm>
            <a:off x="411480" y="530352"/>
            <a:ext cx="11338560" cy="566928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marL="0" indent="0">
              <a:buNone/>
            </a:pPr>
            <a:r>
              <a:rPr sz="2500" b="1" i="0" lang="pt-BR">
                <a:solidFill>
                  <a:srgbClr val="28282D"/>
                </a:solidFill>
                <a:latin typeface="Montserrat"/>
                <a:ea typeface="Montserrat"/>
                <a:cs typeface="Montserrat"/>
              </a:rPr>
              <a:t>EVIDÊNCIA DE CAMPO ATÉ A DECISÃO</a:t>
            </a:r>
            <a:endParaRPr lang="pt-BR" sz="2500"/>
          </a:p>
        </p:txBody>
      </p:sp>
      <p:sp>
        <p:nvSpPr>
          <p:cNvPr id="71" name="subtitle"/>
          <p:cNvSpPr txBox="1"/>
          <p:nvPr/>
        </p:nvSpPr>
        <p:spPr>
          <a:xfrm>
            <a:off x="411480" y="1298448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marL="0" indent="0">
              <a:buNone/>
            </a:pPr>
            <a:r>
              <a:rPr sz="1300" b="0" i="1" lang="pt-BR">
                <a:solidFill>
                  <a:srgbClr val="6B7680"/>
                </a:solidFill>
                <a:latin typeface="Work Sans"/>
                <a:ea typeface="Work Sans"/>
                <a:cs typeface="Work Sans"/>
              </a:rPr>
              <a:t>Metodologia, tecnologia e rastreabilidade para investigar perdas reais.</a:t>
            </a:r>
            <a:endParaRPr lang="pt-BR" sz="1300"/>
          </a:p>
        </p:txBody>
      </p:sp>
      <p:sp>
        <p:nvSpPr>
          <p:cNvPr id="72" name="st_c0"/>
          <p:cNvSpPr/>
          <p:nvPr/>
        </p:nvSpPr>
        <p:spPr>
          <a:xfrm>
            <a:off x="411480" y="1828800"/>
            <a:ext cx="2697480" cy="2514600"/>
          </a:xfrm>
          <a:prstGeom prst="roundRect">
            <a:avLst>
              <a:gd name="adj" fmla="val 6000"/>
            </a:avLst>
          </a:prstGeom>
          <a:solidFill>
            <a:srgbClr val="F2F0EB"/>
          </a:solidFill>
          <a:ln w="12700">
            <a:solidFill>
              <a:srgbClr val="D5D8D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" name="st_n0_c"/>
          <p:cNvSpPr/>
          <p:nvPr/>
        </p:nvSpPr>
        <p:spPr>
          <a:xfrm>
            <a:off x="685800" y="2103120"/>
            <a:ext cx="603504" cy="603504"/>
          </a:xfrm>
          <a:prstGeom prst="ellipse">
            <a:avLst/>
          </a:prstGeom>
          <a:solidFill>
            <a:srgbClr val="00539C"/>
          </a:solidFill>
          <a:ln w="12700">
            <a:solidFill>
              <a:srgbClr val="00539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" name="st_n0_n"/>
          <p:cNvSpPr txBox="1"/>
          <p:nvPr/>
        </p:nvSpPr>
        <p:spPr>
          <a:xfrm>
            <a:off x="685800" y="2103120"/>
            <a:ext cx="603504" cy="603504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algn="ctr" marL="0" indent="0">
              <a:buNone/>
            </a:pPr>
            <a:r>
              <a:rPr sz="1400" b="1" i="0" lang="pt-BR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01</a:t>
            </a:r>
            <a:endParaRPr lang="pt-BR" sz="1400"/>
          </a:p>
        </p:txBody>
      </p:sp>
      <p:sp>
        <p:nvSpPr>
          <p:cNvPr id="75" name="st_t0"/>
          <p:cNvSpPr txBox="1"/>
          <p:nvPr/>
        </p:nvSpPr>
        <p:spPr>
          <a:xfrm>
            <a:off x="685800" y="2926080"/>
            <a:ext cx="2148840" cy="411480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marL="0" indent="0">
              <a:buNone/>
            </a:pPr>
            <a:r>
              <a:rPr sz="1800" b="1" i="0" lang="pt-BR">
                <a:solidFill>
                  <a:srgbClr val="28282D"/>
                </a:solidFill>
                <a:latin typeface="Montserrat"/>
                <a:ea typeface="Montserrat"/>
                <a:cs typeface="Montserrat"/>
              </a:rPr>
              <a:t>Planejar</a:t>
            </a:r>
            <a:endParaRPr lang="pt-BR" sz="1800"/>
          </a:p>
        </p:txBody>
      </p:sp>
      <p:sp>
        <p:nvSpPr>
          <p:cNvPr id="76" name="st_d0"/>
          <p:cNvSpPr txBox="1"/>
          <p:nvPr/>
        </p:nvSpPr>
        <p:spPr>
          <a:xfrm>
            <a:off x="685800" y="3429000"/>
            <a:ext cx="2148840" cy="100584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marL="0" indent="0">
              <a:lnSpc>
                <a:spcPct val="108000"/>
              </a:lnSpc>
              <a:buNone/>
            </a:pPr>
            <a:r>
              <a:rPr sz="1350" b="0" i="0" lang="pt-BR">
                <a:solidFill>
                  <a:srgbClr val="5B6B75"/>
                </a:solidFill>
                <a:latin typeface="Work Sans"/>
                <a:ea typeface="Work Sans"/>
                <a:cs typeface="Work Sans"/>
              </a:rPr>
              <a:t>definir áreas e prioridades</a:t>
            </a:r>
            <a:endParaRPr lang="pt-BR" sz="1350"/>
          </a:p>
        </p:txBody>
      </p:sp>
      <p:sp>
        <p:nvSpPr>
          <p:cNvPr id="77" name="st_c1"/>
          <p:cNvSpPr/>
          <p:nvPr/>
        </p:nvSpPr>
        <p:spPr>
          <a:xfrm>
            <a:off x="3300984" y="1828800"/>
            <a:ext cx="2697480" cy="2514600"/>
          </a:xfrm>
          <a:prstGeom prst="roundRect">
            <a:avLst>
              <a:gd name="adj" fmla="val 6000"/>
            </a:avLst>
          </a:prstGeom>
          <a:solidFill>
            <a:srgbClr val="F2F0EB"/>
          </a:solidFill>
          <a:ln w="12700">
            <a:solidFill>
              <a:srgbClr val="D5D8D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" name="st_n1_c"/>
          <p:cNvSpPr/>
          <p:nvPr/>
        </p:nvSpPr>
        <p:spPr>
          <a:xfrm>
            <a:off x="3575304" y="2103120"/>
            <a:ext cx="603504" cy="603504"/>
          </a:xfrm>
          <a:prstGeom prst="ellipse">
            <a:avLst/>
          </a:prstGeom>
          <a:solidFill>
            <a:srgbClr val="00539C"/>
          </a:solidFill>
          <a:ln w="12700">
            <a:solidFill>
              <a:srgbClr val="00539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" name="st_n1_n"/>
          <p:cNvSpPr txBox="1"/>
          <p:nvPr/>
        </p:nvSpPr>
        <p:spPr>
          <a:xfrm>
            <a:off x="3575304" y="2103120"/>
            <a:ext cx="603504" cy="603504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algn="ctr" marL="0" indent="0">
              <a:buNone/>
            </a:pPr>
            <a:r>
              <a:rPr sz="1400" b="1" i="0" lang="pt-BR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02</a:t>
            </a:r>
            <a:endParaRPr lang="pt-BR" sz="1400"/>
          </a:p>
        </p:txBody>
      </p:sp>
      <p:sp>
        <p:nvSpPr>
          <p:cNvPr id="80" name="st_t1"/>
          <p:cNvSpPr txBox="1"/>
          <p:nvPr/>
        </p:nvSpPr>
        <p:spPr>
          <a:xfrm>
            <a:off x="3575304" y="2926080"/>
            <a:ext cx="2148840" cy="411480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marL="0" indent="0">
              <a:buNone/>
            </a:pPr>
            <a:r>
              <a:rPr sz="1800" b="1" i="0" lang="pt-BR">
                <a:solidFill>
                  <a:srgbClr val="28282D"/>
                </a:solidFill>
                <a:latin typeface="Montserrat"/>
                <a:ea typeface="Montserrat"/>
                <a:cs typeface="Montserrat"/>
              </a:rPr>
              <a:t>Investigar</a:t>
            </a:r>
            <a:endParaRPr lang="pt-BR" sz="1800"/>
          </a:p>
        </p:txBody>
      </p:sp>
      <p:sp>
        <p:nvSpPr>
          <p:cNvPr id="81" name="st_d1"/>
          <p:cNvSpPr txBox="1"/>
          <p:nvPr/>
        </p:nvSpPr>
        <p:spPr>
          <a:xfrm>
            <a:off x="3575304" y="3429000"/>
            <a:ext cx="2148840" cy="100584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marL="0" indent="0">
              <a:lnSpc>
                <a:spcPct val="108000"/>
              </a:lnSpc>
              <a:buNone/>
            </a:pPr>
            <a:r>
              <a:rPr sz="1350" b="0" i="0" lang="pt-BR">
                <a:solidFill>
                  <a:srgbClr val="5B6B75"/>
                </a:solidFill>
                <a:latin typeface="Work Sans"/>
                <a:ea typeface="Work Sans"/>
                <a:cs typeface="Work Sans"/>
              </a:rPr>
              <a:t>coletar sinais e evidências</a:t>
            </a:r>
            <a:endParaRPr lang="pt-BR" sz="1350"/>
          </a:p>
        </p:txBody>
      </p:sp>
      <p:sp>
        <p:nvSpPr>
          <p:cNvPr id="82" name="st_c2"/>
          <p:cNvSpPr/>
          <p:nvPr/>
        </p:nvSpPr>
        <p:spPr>
          <a:xfrm>
            <a:off x="6190488" y="1828800"/>
            <a:ext cx="2697480" cy="2514600"/>
          </a:xfrm>
          <a:prstGeom prst="roundRect">
            <a:avLst>
              <a:gd name="adj" fmla="val 6000"/>
            </a:avLst>
          </a:prstGeom>
          <a:solidFill>
            <a:srgbClr val="F2F0EB"/>
          </a:solidFill>
          <a:ln w="12700">
            <a:solidFill>
              <a:srgbClr val="D5D8D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" name="st_n2_c"/>
          <p:cNvSpPr/>
          <p:nvPr/>
        </p:nvSpPr>
        <p:spPr>
          <a:xfrm>
            <a:off x="6464808" y="2103120"/>
            <a:ext cx="603504" cy="603504"/>
          </a:xfrm>
          <a:prstGeom prst="ellipse">
            <a:avLst/>
          </a:prstGeom>
          <a:solidFill>
            <a:srgbClr val="00539C"/>
          </a:solidFill>
          <a:ln w="12700">
            <a:solidFill>
              <a:srgbClr val="00539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" name="st_n2_n"/>
          <p:cNvSpPr txBox="1"/>
          <p:nvPr/>
        </p:nvSpPr>
        <p:spPr>
          <a:xfrm>
            <a:off x="6464808" y="2103120"/>
            <a:ext cx="603504" cy="603504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algn="ctr" marL="0" indent="0">
              <a:buNone/>
            </a:pPr>
            <a:r>
              <a:rPr sz="1400" b="1" i="0" lang="pt-BR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03</a:t>
            </a:r>
            <a:endParaRPr lang="pt-BR" sz="1400"/>
          </a:p>
        </p:txBody>
      </p:sp>
      <p:sp>
        <p:nvSpPr>
          <p:cNvPr id="85" name="st_t2"/>
          <p:cNvSpPr txBox="1"/>
          <p:nvPr/>
        </p:nvSpPr>
        <p:spPr>
          <a:xfrm>
            <a:off x="6464808" y="2926080"/>
            <a:ext cx="2148840" cy="411480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marL="0" indent="0">
              <a:buNone/>
            </a:pPr>
            <a:r>
              <a:rPr sz="1800" b="1" i="0" lang="pt-BR">
                <a:solidFill>
                  <a:srgbClr val="28282D"/>
                </a:solidFill>
                <a:latin typeface="Montserrat"/>
                <a:ea typeface="Montserrat"/>
                <a:cs typeface="Montserrat"/>
              </a:rPr>
              <a:t>Orientar</a:t>
            </a:r>
            <a:endParaRPr lang="pt-BR" sz="1800"/>
          </a:p>
        </p:txBody>
      </p:sp>
      <p:sp>
        <p:nvSpPr>
          <p:cNvPr id="86" name="st_d2"/>
          <p:cNvSpPr txBox="1"/>
          <p:nvPr/>
        </p:nvSpPr>
        <p:spPr>
          <a:xfrm>
            <a:off x="6464808" y="3429000"/>
            <a:ext cx="2148840" cy="100584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marL="0" indent="0">
              <a:lnSpc>
                <a:spcPct val="108000"/>
              </a:lnSpc>
              <a:buNone/>
            </a:pPr>
            <a:r>
              <a:rPr sz="1350" b="0" i="0" lang="pt-BR">
                <a:solidFill>
                  <a:srgbClr val="5B6B75"/>
                </a:solidFill>
                <a:latin typeface="Work Sans"/>
                <a:ea typeface="Work Sans"/>
                <a:cs typeface="Work Sans"/>
              </a:rPr>
              <a:t>apoiar a decisão operacional</a:t>
            </a:r>
            <a:endParaRPr lang="pt-BR" sz="1350"/>
          </a:p>
        </p:txBody>
      </p:sp>
      <p:sp>
        <p:nvSpPr>
          <p:cNvPr id="87" name="st_c3"/>
          <p:cNvSpPr/>
          <p:nvPr/>
        </p:nvSpPr>
        <p:spPr>
          <a:xfrm>
            <a:off x="9079992" y="1828800"/>
            <a:ext cx="2697480" cy="2514600"/>
          </a:xfrm>
          <a:prstGeom prst="roundRect">
            <a:avLst>
              <a:gd name="adj" fmla="val 6000"/>
            </a:avLst>
          </a:prstGeom>
          <a:solidFill>
            <a:srgbClr val="F2F0EB"/>
          </a:solidFill>
          <a:ln w="12700">
            <a:solidFill>
              <a:srgbClr val="D5D8D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8" name="st_n3_c"/>
          <p:cNvSpPr/>
          <p:nvPr/>
        </p:nvSpPr>
        <p:spPr>
          <a:xfrm>
            <a:off x="9354312" y="2103120"/>
            <a:ext cx="603504" cy="603504"/>
          </a:xfrm>
          <a:prstGeom prst="ellipse">
            <a:avLst/>
          </a:prstGeom>
          <a:solidFill>
            <a:srgbClr val="00539C"/>
          </a:solidFill>
          <a:ln w="12700">
            <a:solidFill>
              <a:srgbClr val="00539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" name="st_n3_n"/>
          <p:cNvSpPr txBox="1"/>
          <p:nvPr/>
        </p:nvSpPr>
        <p:spPr>
          <a:xfrm>
            <a:off x="9354312" y="2103120"/>
            <a:ext cx="603504" cy="603504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algn="ctr" marL="0" indent="0">
              <a:buNone/>
            </a:pPr>
            <a:r>
              <a:rPr sz="1400" b="1" i="0" lang="pt-BR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04</a:t>
            </a:r>
            <a:endParaRPr lang="pt-BR" sz="1400"/>
          </a:p>
        </p:txBody>
      </p:sp>
      <p:sp>
        <p:nvSpPr>
          <p:cNvPr id="90" name="st_t3"/>
          <p:cNvSpPr txBox="1"/>
          <p:nvPr/>
        </p:nvSpPr>
        <p:spPr>
          <a:xfrm>
            <a:off x="9354312" y="2926080"/>
            <a:ext cx="2148840" cy="411480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marL="0" indent="0">
              <a:buNone/>
            </a:pPr>
            <a:r>
              <a:rPr sz="1800" b="1" i="0" lang="pt-BR">
                <a:solidFill>
                  <a:srgbClr val="28282D"/>
                </a:solidFill>
                <a:latin typeface="Montserrat"/>
                <a:ea typeface="Montserrat"/>
                <a:cs typeface="Montserrat"/>
              </a:rPr>
              <a:t>Registrar</a:t>
            </a:r>
            <a:endParaRPr lang="pt-BR" sz="1800"/>
          </a:p>
        </p:txBody>
      </p:sp>
      <p:sp>
        <p:nvSpPr>
          <p:cNvPr id="91" name="st_d3"/>
          <p:cNvSpPr txBox="1"/>
          <p:nvPr/>
        </p:nvSpPr>
        <p:spPr>
          <a:xfrm>
            <a:off x="9354312" y="3429000"/>
            <a:ext cx="2148840" cy="100584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marL="0" indent="0">
              <a:lnSpc>
                <a:spcPct val="108000"/>
              </a:lnSpc>
              <a:buNone/>
            </a:pPr>
            <a:r>
              <a:rPr sz="1350" b="0" i="0" lang="pt-BR">
                <a:solidFill>
                  <a:srgbClr val="5B6B75"/>
                </a:solidFill>
                <a:latin typeface="Work Sans"/>
                <a:ea typeface="Work Sans"/>
                <a:cs typeface="Work Sans"/>
              </a:rPr>
              <a:t>manter histórico auditável</a:t>
            </a:r>
            <a:endParaRPr lang="pt-BR" sz="1350"/>
          </a:p>
        </p:txBody>
      </p:sp>
      <p:sp>
        <p:nvSpPr>
          <p:cNvPr id="92" name="st_pill"/>
          <p:cNvSpPr/>
          <p:nvPr/>
        </p:nvSpPr>
        <p:spPr>
          <a:xfrm>
            <a:off x="868680" y="4892040"/>
            <a:ext cx="10451592" cy="502920"/>
          </a:xfrm>
          <a:prstGeom prst="roundRect">
            <a:avLst>
              <a:gd name="adj" fmla="val 50000"/>
            </a:avLst>
          </a:prstGeom>
          <a:solidFill>
            <a:srgbClr val="D8E4EC"/>
          </a:solidFill>
          <a:ln w="9525">
            <a:solidFill>
              <a:srgbClr val="D8E4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3" name="st_pill_txt"/>
          <p:cNvSpPr txBox="1"/>
          <p:nvPr/>
        </p:nvSpPr>
        <p:spPr>
          <a:xfrm>
            <a:off x="868680" y="4892040"/>
            <a:ext cx="10451592" cy="502920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algn="ctr" marL="0" indent="0">
              <a:buNone/>
            </a:pPr>
            <a:r>
              <a:rPr sz="1400" b="0" i="1" lang="pt-BR">
                <a:solidFill>
                  <a:srgbClr val="28282D"/>
                </a:solidFill>
                <a:latin typeface="Work Sans"/>
                <a:ea typeface="Work Sans"/>
                <a:cs typeface="Work Sans"/>
              </a:rPr>
              <a:t>O objetivo não é apenas localizar: é transformar cada investigação em informação útil para a próxima decisão.</a:t>
            </a:r>
            <a:endParaRPr lang="pt-BR" sz="1400"/>
          </a:p>
        </p:txBody>
      </p:sp>
      <p:sp>
        <p:nvSpPr>
          <p:cNvPr id="94" name="source"/>
          <p:cNvSpPr txBox="1"/>
          <p:nvPr/>
        </p:nvSpPr>
        <p:spPr>
          <a:xfrm>
            <a:off x="640080" y="6382512"/>
            <a:ext cx="7223760" cy="201168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marL="0" indent="0">
              <a:buNone/>
            </a:pPr>
            <a:r>
              <a:rPr sz="800" b="0" i="0" lang="pt-BR">
                <a:solidFill>
                  <a:srgbClr val="28282D"/>
                </a:solidFill>
                <a:latin typeface="Work Sans"/>
                <a:ea typeface="Work Sans"/>
                <a:cs typeface="Work Sans"/>
              </a:rPr>
              <a:t>Fonte: Hydroforce — serviços especializados para redução de perdas e investigação de vazamentos.</a:t>
            </a:r>
            <a:endParaRPr lang="pt-BR" sz="8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07040" y="6254496"/>
            <a:ext cx="13716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28282D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1" lang="pt-BR"/>
              <a:t>2</a:t>
            </a:fld>
            <a:endParaRPr lang="pt-BR"/>
          </a:p>
        </p:txBody>
      </p:sp>
      <p:sp>
        <p:nvSpPr>
          <p:cNvPr id="69" name="!!label"/>
          <p:cNvSpPr txBox="1"/>
          <p:nvPr/>
        </p:nvSpPr>
        <p:spPr>
          <a:xfrm>
            <a:off x="411480" y="292608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marL="0" indent="0">
              <a:buNone/>
            </a:pPr>
            <a:r>
              <a:rPr sz="1300" b="0" i="1" lang="pt-BR">
                <a:solidFill>
                  <a:srgbClr val="5B6B75"/>
                </a:solidFill>
                <a:latin typeface="Work Sans"/>
                <a:ea typeface="Work Sans"/>
                <a:cs typeface="Work Sans"/>
              </a:rPr>
              <a:t>Ciclo operacional</a:t>
            </a:r>
            <a:endParaRPr lang="pt-BR" sz="1300"/>
          </a:p>
        </p:txBody>
      </p:sp>
      <p:sp>
        <p:nvSpPr>
          <p:cNvPr id="70" name="!!title"/>
          <p:cNvSpPr txBox="1"/>
          <p:nvPr/>
        </p:nvSpPr>
        <p:spPr>
          <a:xfrm>
            <a:off x="411480" y="530352"/>
            <a:ext cx="11338560" cy="566928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marL="0" indent="0">
              <a:buNone/>
            </a:pPr>
            <a:r>
              <a:rPr sz="2500" b="1" i="0" lang="pt-BR">
                <a:solidFill>
                  <a:srgbClr val="28282D"/>
                </a:solidFill>
                <a:latin typeface="Montserrat"/>
                <a:ea typeface="Montserrat"/>
                <a:cs typeface="Montserrat"/>
              </a:rPr>
              <a:t>DO SINAL À VALIDAÇÃO, O PROCESSO FICA RASTREÁVEL</a:t>
            </a:r>
            <a:endParaRPr lang="pt-BR" sz="2500"/>
          </a:p>
        </p:txBody>
      </p:sp>
      <p:sp>
        <p:nvSpPr>
          <p:cNvPr id="71" name="subtitle"/>
          <p:cNvSpPr txBox="1"/>
          <p:nvPr/>
        </p:nvSpPr>
        <p:spPr>
          <a:xfrm>
            <a:off x="411480" y="1298448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marL="0" indent="0">
              <a:buNone/>
            </a:pPr>
            <a:r>
              <a:rPr sz="1300" b="0" i="1" lang="pt-BR">
                <a:solidFill>
                  <a:srgbClr val="6B7680"/>
                </a:solidFill>
                <a:latin typeface="Work Sans"/>
                <a:ea typeface="Work Sans"/>
                <a:cs typeface="Work Sans"/>
              </a:rPr>
              <a:t>Cada etapa deixa contexto, evidência e responsabilidade para a etapa seguinte.</a:t>
            </a:r>
            <a:endParaRPr lang="pt-BR" sz="1300"/>
          </a:p>
        </p:txBody>
      </p:sp>
      <p:cxnSp>
        <p:nvCxnSpPr>
          <p:cNvPr id="72" name="cy_ln0"/>
          <p:cNvCxnSpPr/>
          <p:nvPr/>
        </p:nvCxnSpPr>
        <p:spPr>
          <a:xfrm>
            <a:off x="2073859" y="2628900"/>
            <a:ext cx="1221638" cy="0"/>
          </a:xfrm>
          <a:prstGeom prst="line">
            <a:avLst/>
          </a:prstGeom>
          <a:ln w="19050">
            <a:solidFill>
              <a:srgbClr val="28282D">
                <a:alpha val="55000"/>
              </a:srgbClr>
            </a:solidFill>
          </a:ln>
        </p:spPr>
      </p:cxnSp>
      <p:cxnSp>
        <p:nvCxnSpPr>
          <p:cNvPr id="73" name="cy_ln1"/>
          <p:cNvCxnSpPr/>
          <p:nvPr/>
        </p:nvCxnSpPr>
        <p:spPr>
          <a:xfrm>
            <a:off x="4347057" y="2628900"/>
            <a:ext cx="1221639" cy="0"/>
          </a:xfrm>
          <a:prstGeom prst="line">
            <a:avLst/>
          </a:prstGeom>
          <a:ln w="19050">
            <a:solidFill>
              <a:srgbClr val="28282D">
                <a:alpha val="55000"/>
              </a:srgbClr>
            </a:solidFill>
          </a:ln>
        </p:spPr>
      </p:cxnSp>
      <p:cxnSp>
        <p:nvCxnSpPr>
          <p:cNvPr id="74" name="cy_ln2"/>
          <p:cNvCxnSpPr/>
          <p:nvPr/>
        </p:nvCxnSpPr>
        <p:spPr>
          <a:xfrm>
            <a:off x="6620255" y="2628900"/>
            <a:ext cx="1221639" cy="0"/>
          </a:xfrm>
          <a:prstGeom prst="line">
            <a:avLst/>
          </a:prstGeom>
          <a:ln w="19050">
            <a:solidFill>
              <a:srgbClr val="28282D">
                <a:alpha val="55000"/>
              </a:srgbClr>
            </a:solidFill>
          </a:ln>
        </p:spPr>
      </p:cxnSp>
      <p:cxnSp>
        <p:nvCxnSpPr>
          <p:cNvPr id="75" name="cy_ln3"/>
          <p:cNvCxnSpPr/>
          <p:nvPr/>
        </p:nvCxnSpPr>
        <p:spPr>
          <a:xfrm>
            <a:off x="8893454" y="2628900"/>
            <a:ext cx="1221638" cy="0"/>
          </a:xfrm>
          <a:prstGeom prst="line">
            <a:avLst/>
          </a:prstGeom>
          <a:ln w="19050">
            <a:solidFill>
              <a:srgbClr val="28282D">
                <a:alpha val="55000"/>
              </a:srgbClr>
            </a:solidFill>
          </a:ln>
        </p:spPr>
      </p:cxnSp>
      <p:sp>
        <p:nvSpPr>
          <p:cNvPr id="76" name="cy_n0_c"/>
          <p:cNvSpPr/>
          <p:nvPr/>
        </p:nvSpPr>
        <p:spPr>
          <a:xfrm>
            <a:off x="1113739" y="2194560"/>
            <a:ext cx="868680" cy="868680"/>
          </a:xfrm>
          <a:prstGeom prst="ellipse">
            <a:avLst/>
          </a:prstGeom>
          <a:solidFill>
            <a:srgbClr val="00539C"/>
          </a:solidFill>
          <a:ln w="12700">
            <a:solidFill>
              <a:srgbClr val="00539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" name="cy_n0_n"/>
          <p:cNvSpPr txBox="1"/>
          <p:nvPr/>
        </p:nvSpPr>
        <p:spPr>
          <a:xfrm>
            <a:off x="1113739" y="2194560"/>
            <a:ext cx="868680" cy="868680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algn="ctr" marL="0" indent="0">
              <a:buNone/>
            </a:pPr>
            <a:r>
              <a:rPr sz="2400" b="1" i="0" lang="pt-BR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</a:t>
            </a:r>
            <a:endParaRPr lang="pt-BR" sz="2400"/>
          </a:p>
        </p:txBody>
      </p:sp>
      <p:sp>
        <p:nvSpPr>
          <p:cNvPr id="78" name="cy_t0"/>
          <p:cNvSpPr txBox="1"/>
          <p:nvPr/>
        </p:nvSpPr>
        <p:spPr>
          <a:xfrm>
            <a:off x="457199" y="3291839"/>
            <a:ext cx="2181758" cy="411480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algn="ctr" marL="0" indent="0">
              <a:buNone/>
            </a:pPr>
            <a:r>
              <a:rPr sz="1600" b="1" i="0" lang="pt-BR">
                <a:solidFill>
                  <a:srgbClr val="28282D"/>
                </a:solidFill>
                <a:latin typeface="Montserrat"/>
                <a:ea typeface="Montserrat"/>
                <a:cs typeface="Montserrat"/>
              </a:rPr>
              <a:t>MONITORAR</a:t>
            </a:r>
            <a:endParaRPr lang="pt-BR" sz="1600"/>
          </a:p>
        </p:txBody>
      </p:sp>
      <p:sp>
        <p:nvSpPr>
          <p:cNvPr id="79" name="cy_d0"/>
          <p:cNvSpPr txBox="1"/>
          <p:nvPr/>
        </p:nvSpPr>
        <p:spPr>
          <a:xfrm>
            <a:off x="548640" y="3749039"/>
            <a:ext cx="1998878" cy="73152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algn="ctr" marL="0" indent="0">
              <a:buNone/>
            </a:pPr>
            <a:r>
              <a:rPr sz="1350" b="0" i="0" lang="pt-BR">
                <a:solidFill>
                  <a:srgbClr val="5B6B75"/>
                </a:solidFill>
                <a:latin typeface="Work Sans"/>
                <a:ea typeface="Work Sans"/>
                <a:cs typeface="Work Sans"/>
              </a:rPr>
              <a:t>pressão e ruído</a:t>
            </a:r>
            <a:endParaRPr lang="pt-BR" sz="1350"/>
          </a:p>
        </p:txBody>
      </p:sp>
      <p:sp>
        <p:nvSpPr>
          <p:cNvPr id="80" name="cy_n1_c"/>
          <p:cNvSpPr/>
          <p:nvPr/>
        </p:nvSpPr>
        <p:spPr>
          <a:xfrm>
            <a:off x="3386937" y="2194560"/>
            <a:ext cx="868680" cy="868680"/>
          </a:xfrm>
          <a:prstGeom prst="ellipse">
            <a:avLst/>
          </a:prstGeom>
          <a:solidFill>
            <a:srgbClr val="00539C"/>
          </a:solidFill>
          <a:ln w="12700">
            <a:solidFill>
              <a:srgbClr val="00539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" name="cy_n1_n"/>
          <p:cNvSpPr txBox="1"/>
          <p:nvPr/>
        </p:nvSpPr>
        <p:spPr>
          <a:xfrm>
            <a:off x="3386937" y="2194560"/>
            <a:ext cx="868680" cy="868680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algn="ctr" marL="0" indent="0">
              <a:buNone/>
            </a:pPr>
            <a:r>
              <a:rPr sz="2400" b="1" i="0" lang="pt-BR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2</a:t>
            </a:r>
            <a:endParaRPr lang="pt-BR" sz="2400"/>
          </a:p>
        </p:txBody>
      </p:sp>
      <p:sp>
        <p:nvSpPr>
          <p:cNvPr id="82" name="cy_t1"/>
          <p:cNvSpPr txBox="1"/>
          <p:nvPr/>
        </p:nvSpPr>
        <p:spPr>
          <a:xfrm>
            <a:off x="2730398" y="3291839"/>
            <a:ext cx="2181758" cy="411480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algn="ctr" marL="0" indent="0">
              <a:buNone/>
            </a:pPr>
            <a:r>
              <a:rPr sz="1600" b="1" i="0" lang="pt-BR">
                <a:solidFill>
                  <a:srgbClr val="28282D"/>
                </a:solidFill>
                <a:latin typeface="Montserrat"/>
                <a:ea typeface="Montserrat"/>
                <a:cs typeface="Montserrat"/>
              </a:rPr>
              <a:t>PRIORIZAR</a:t>
            </a:r>
            <a:endParaRPr lang="pt-BR" sz="1600"/>
          </a:p>
        </p:txBody>
      </p:sp>
      <p:sp>
        <p:nvSpPr>
          <p:cNvPr id="83" name="cy_d1"/>
          <p:cNvSpPr txBox="1"/>
          <p:nvPr/>
        </p:nvSpPr>
        <p:spPr>
          <a:xfrm>
            <a:off x="2821838" y="3749039"/>
            <a:ext cx="1998878" cy="73152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algn="ctr" marL="0" indent="0">
              <a:buNone/>
            </a:pPr>
            <a:r>
              <a:rPr sz="1350" b="0" i="0" lang="pt-BR">
                <a:solidFill>
                  <a:srgbClr val="5B6B75"/>
                </a:solidFill>
                <a:latin typeface="Work Sans"/>
                <a:ea typeface="Work Sans"/>
                <a:cs typeface="Work Sans"/>
              </a:rPr>
              <a:t>áreas críticas</a:t>
            </a:r>
            <a:endParaRPr lang="pt-BR" sz="1350"/>
          </a:p>
        </p:txBody>
      </p:sp>
      <p:sp>
        <p:nvSpPr>
          <p:cNvPr id="84" name="cy_n2_c"/>
          <p:cNvSpPr/>
          <p:nvPr/>
        </p:nvSpPr>
        <p:spPr>
          <a:xfrm>
            <a:off x="5660136" y="2194560"/>
            <a:ext cx="868680" cy="868680"/>
          </a:xfrm>
          <a:prstGeom prst="ellipse">
            <a:avLst/>
          </a:prstGeom>
          <a:solidFill>
            <a:srgbClr val="00539C"/>
          </a:solidFill>
          <a:ln w="12700">
            <a:solidFill>
              <a:srgbClr val="00539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" name="cy_n2_n"/>
          <p:cNvSpPr txBox="1"/>
          <p:nvPr/>
        </p:nvSpPr>
        <p:spPr>
          <a:xfrm>
            <a:off x="5660136" y="2194560"/>
            <a:ext cx="868680" cy="868680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algn="ctr" marL="0" indent="0">
              <a:buNone/>
            </a:pPr>
            <a:r>
              <a:rPr sz="2400" b="1" i="0" lang="pt-BR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3</a:t>
            </a:r>
            <a:endParaRPr lang="pt-BR" sz="2400"/>
          </a:p>
        </p:txBody>
      </p:sp>
      <p:sp>
        <p:nvSpPr>
          <p:cNvPr id="86" name="cy_t2"/>
          <p:cNvSpPr txBox="1"/>
          <p:nvPr/>
        </p:nvSpPr>
        <p:spPr>
          <a:xfrm>
            <a:off x="5003596" y="3291839"/>
            <a:ext cx="2181758" cy="411480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algn="ctr" marL="0" indent="0">
              <a:buNone/>
            </a:pPr>
            <a:r>
              <a:rPr sz="1600" b="1" i="0" lang="pt-BR">
                <a:solidFill>
                  <a:srgbClr val="28282D"/>
                </a:solidFill>
                <a:latin typeface="Montserrat"/>
                <a:ea typeface="Montserrat"/>
                <a:cs typeface="Montserrat"/>
              </a:rPr>
              <a:t>INVESTIGAR</a:t>
            </a:r>
            <a:endParaRPr lang="pt-BR" sz="1600"/>
          </a:p>
        </p:txBody>
      </p:sp>
      <p:sp>
        <p:nvSpPr>
          <p:cNvPr id="87" name="cy_d2"/>
          <p:cNvSpPr txBox="1"/>
          <p:nvPr/>
        </p:nvSpPr>
        <p:spPr>
          <a:xfrm>
            <a:off x="5095036" y="3749039"/>
            <a:ext cx="1998878" cy="73152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algn="ctr" marL="0" indent="0">
              <a:buNone/>
            </a:pPr>
            <a:r>
              <a:rPr sz="1350" b="0" i="0" lang="pt-BR">
                <a:solidFill>
                  <a:srgbClr val="5B6B75"/>
                </a:solidFill>
                <a:latin typeface="Work Sans"/>
                <a:ea typeface="Work Sans"/>
                <a:cs typeface="Work Sans"/>
              </a:rPr>
              <a:t>campo e evidências</a:t>
            </a:r>
            <a:endParaRPr lang="pt-BR" sz="1350"/>
          </a:p>
        </p:txBody>
      </p:sp>
      <p:sp>
        <p:nvSpPr>
          <p:cNvPr id="88" name="cy_n3_c"/>
          <p:cNvSpPr/>
          <p:nvPr/>
        </p:nvSpPr>
        <p:spPr>
          <a:xfrm>
            <a:off x="7933334" y="2194560"/>
            <a:ext cx="868680" cy="868680"/>
          </a:xfrm>
          <a:prstGeom prst="ellipse">
            <a:avLst/>
          </a:prstGeom>
          <a:solidFill>
            <a:srgbClr val="00539C"/>
          </a:solidFill>
          <a:ln w="12700">
            <a:solidFill>
              <a:srgbClr val="00539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" name="cy_n3_n"/>
          <p:cNvSpPr txBox="1"/>
          <p:nvPr/>
        </p:nvSpPr>
        <p:spPr>
          <a:xfrm>
            <a:off x="7933334" y="2194560"/>
            <a:ext cx="868680" cy="868680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algn="ctr" marL="0" indent="0">
              <a:buNone/>
            </a:pPr>
            <a:r>
              <a:rPr sz="2400" b="1" i="0" lang="pt-BR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4</a:t>
            </a:r>
            <a:endParaRPr lang="pt-BR" sz="2400"/>
          </a:p>
        </p:txBody>
      </p:sp>
      <p:sp>
        <p:nvSpPr>
          <p:cNvPr id="90" name="cy_t3"/>
          <p:cNvSpPr txBox="1"/>
          <p:nvPr/>
        </p:nvSpPr>
        <p:spPr>
          <a:xfrm>
            <a:off x="7276795" y="3291839"/>
            <a:ext cx="2181758" cy="411480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algn="ctr" marL="0" indent="0">
              <a:buNone/>
            </a:pPr>
            <a:r>
              <a:rPr sz="1600" b="1" i="0" lang="pt-BR">
                <a:solidFill>
                  <a:srgbClr val="28282D"/>
                </a:solidFill>
                <a:latin typeface="Montserrat"/>
                <a:ea typeface="Montserrat"/>
                <a:cs typeface="Montserrat"/>
              </a:rPr>
              <a:t>REPARAR</a:t>
            </a:r>
            <a:endParaRPr lang="pt-BR" sz="1600"/>
          </a:p>
        </p:txBody>
      </p:sp>
      <p:sp>
        <p:nvSpPr>
          <p:cNvPr id="91" name="cy_d3"/>
          <p:cNvSpPr txBox="1"/>
          <p:nvPr/>
        </p:nvSpPr>
        <p:spPr>
          <a:xfrm>
            <a:off x="7368235" y="3749039"/>
            <a:ext cx="1998878" cy="73152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algn="ctr" marL="0" indent="0">
              <a:buNone/>
            </a:pPr>
            <a:r>
              <a:rPr sz="1350" b="0" i="0" lang="pt-BR">
                <a:solidFill>
                  <a:srgbClr val="5B6B75"/>
                </a:solidFill>
                <a:latin typeface="Work Sans"/>
                <a:ea typeface="Work Sans"/>
                <a:cs typeface="Work Sans"/>
              </a:rPr>
              <a:t>ação operacional</a:t>
            </a:r>
            <a:endParaRPr lang="pt-BR" sz="1350"/>
          </a:p>
        </p:txBody>
      </p:sp>
      <p:sp>
        <p:nvSpPr>
          <p:cNvPr id="92" name="cy_n4_c"/>
          <p:cNvSpPr/>
          <p:nvPr/>
        </p:nvSpPr>
        <p:spPr>
          <a:xfrm>
            <a:off x="10206532" y="2194560"/>
            <a:ext cx="868680" cy="868680"/>
          </a:xfrm>
          <a:prstGeom prst="ellipse">
            <a:avLst/>
          </a:prstGeom>
          <a:solidFill>
            <a:srgbClr val="00539C"/>
          </a:solidFill>
          <a:ln w="12700">
            <a:solidFill>
              <a:srgbClr val="00539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3" name="cy_n4_n"/>
          <p:cNvSpPr txBox="1"/>
          <p:nvPr/>
        </p:nvSpPr>
        <p:spPr>
          <a:xfrm>
            <a:off x="10206532" y="2194560"/>
            <a:ext cx="868680" cy="868680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algn="ctr" marL="0" indent="0">
              <a:buNone/>
            </a:pPr>
            <a:r>
              <a:rPr sz="2400" b="1" i="0" lang="pt-BR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5</a:t>
            </a:r>
            <a:endParaRPr lang="pt-BR" sz="2400"/>
          </a:p>
        </p:txBody>
      </p:sp>
      <p:sp>
        <p:nvSpPr>
          <p:cNvPr id="94" name="cy_t4"/>
          <p:cNvSpPr txBox="1"/>
          <p:nvPr/>
        </p:nvSpPr>
        <p:spPr>
          <a:xfrm>
            <a:off x="9549993" y="3291839"/>
            <a:ext cx="2181758" cy="411480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algn="ctr" marL="0" indent="0">
              <a:buNone/>
            </a:pPr>
            <a:r>
              <a:rPr sz="1600" b="1" i="0" lang="pt-BR">
                <a:solidFill>
                  <a:srgbClr val="28282D"/>
                </a:solidFill>
                <a:latin typeface="Montserrat"/>
                <a:ea typeface="Montserrat"/>
                <a:cs typeface="Montserrat"/>
              </a:rPr>
              <a:t>VALIDAR</a:t>
            </a:r>
            <a:endParaRPr lang="pt-BR" sz="1600"/>
          </a:p>
        </p:txBody>
      </p:sp>
      <p:sp>
        <p:nvSpPr>
          <p:cNvPr id="95" name="cy_d4"/>
          <p:cNvSpPr txBox="1"/>
          <p:nvPr/>
        </p:nvSpPr>
        <p:spPr>
          <a:xfrm>
            <a:off x="9641433" y="3749039"/>
            <a:ext cx="1998878" cy="73152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algn="ctr" marL="0" indent="0">
              <a:buNone/>
            </a:pPr>
            <a:r>
              <a:rPr sz="1350" b="0" i="0" lang="pt-BR">
                <a:solidFill>
                  <a:srgbClr val="5B6B75"/>
                </a:solidFill>
                <a:latin typeface="Work Sans"/>
                <a:ea typeface="Work Sans"/>
                <a:cs typeface="Work Sans"/>
              </a:rPr>
              <a:t>resultado e histórico</a:t>
            </a:r>
            <a:endParaRPr lang="pt-BR" sz="1350"/>
          </a:p>
        </p:txBody>
      </p:sp>
      <p:sp>
        <p:nvSpPr>
          <p:cNvPr id="96" name="cy_pill"/>
          <p:cNvSpPr/>
          <p:nvPr/>
        </p:nvSpPr>
        <p:spPr>
          <a:xfrm>
            <a:off x="1344168" y="4983480"/>
            <a:ext cx="9509760" cy="502920"/>
          </a:xfrm>
          <a:prstGeom prst="roundRect">
            <a:avLst>
              <a:gd name="adj" fmla="val 50000"/>
            </a:avLst>
          </a:prstGeom>
          <a:solidFill>
            <a:srgbClr val="D8E4EC"/>
          </a:solidFill>
          <a:ln w="9525">
            <a:solidFill>
              <a:srgbClr val="D8E4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7" name="cy_pill_txt"/>
          <p:cNvSpPr txBox="1"/>
          <p:nvPr/>
        </p:nvSpPr>
        <p:spPr>
          <a:xfrm>
            <a:off x="1344168" y="4983480"/>
            <a:ext cx="9509760" cy="502920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algn="ctr" marL="0" indent="0">
              <a:buNone/>
            </a:pPr>
            <a:r>
              <a:rPr sz="1400" b="0" i="1" lang="pt-BR">
                <a:solidFill>
                  <a:srgbClr val="28282D"/>
                </a:solidFill>
                <a:latin typeface="Work Sans"/>
                <a:ea typeface="Work Sans"/>
                <a:cs typeface="Work Sans"/>
              </a:rPr>
              <a:t>Um fluxo auditável reduz a perda de contexto entre a suspeita inicial e o fechamento da ocorrência.</a:t>
            </a:r>
            <a:endParaRPr lang="pt-BR" sz="1400"/>
          </a:p>
        </p:txBody>
      </p:sp>
      <p:sp>
        <p:nvSpPr>
          <p:cNvPr id="98" name="source"/>
          <p:cNvSpPr txBox="1"/>
          <p:nvPr/>
        </p:nvSpPr>
        <p:spPr>
          <a:xfrm>
            <a:off x="640080" y="6382512"/>
            <a:ext cx="7223760" cy="201168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marL="0" indent="0">
              <a:buNone/>
            </a:pPr>
            <a:r>
              <a:rPr sz="800" b="0" i="0" lang="pt-BR">
                <a:solidFill>
                  <a:srgbClr val="28282D"/>
                </a:solidFill>
                <a:latin typeface="Work Sans"/>
                <a:ea typeface="Work Sans"/>
                <a:cs typeface="Work Sans"/>
              </a:rPr>
              <a:t>Fonte: Hydroforce — processo integrado de monitoramento, investigação, reparo e validação.</a:t>
            </a:r>
            <a:endParaRPr lang="pt-BR" sz="8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07040" y="6254496"/>
            <a:ext cx="13716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28282D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1" lang="pt-BR"/>
              <a:t>2</a:t>
            </a:fld>
            <a:endParaRPr lang="pt-BR"/>
          </a:p>
        </p:txBody>
      </p:sp>
      <p:sp>
        <p:nvSpPr>
          <p:cNvPr id="69" name="!!label"/>
          <p:cNvSpPr txBox="1"/>
          <p:nvPr/>
        </p:nvSpPr>
        <p:spPr>
          <a:xfrm>
            <a:off x="411480" y="292608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marL="0" indent="0">
              <a:buNone/>
            </a:pPr>
            <a:r>
              <a:rPr sz="1300" b="0" i="1" lang="pt-BR">
                <a:solidFill>
                  <a:srgbClr val="5B6B75"/>
                </a:solidFill>
                <a:latin typeface="Work Sans"/>
                <a:ea typeface="Work Sans"/>
                <a:cs typeface="Work Sans"/>
              </a:rPr>
              <a:t>Valor operacional</a:t>
            </a:r>
            <a:endParaRPr lang="pt-BR" sz="1300"/>
          </a:p>
        </p:txBody>
      </p:sp>
      <p:sp>
        <p:nvSpPr>
          <p:cNvPr id="70" name="!!title"/>
          <p:cNvSpPr txBox="1"/>
          <p:nvPr/>
        </p:nvSpPr>
        <p:spPr>
          <a:xfrm>
            <a:off x="411480" y="530352"/>
            <a:ext cx="11338560" cy="566928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marL="0" indent="0">
              <a:buNone/>
            </a:pPr>
            <a:r>
              <a:rPr sz="2500" b="1" i="0" lang="pt-BR">
                <a:solidFill>
                  <a:srgbClr val="28282D"/>
                </a:solidFill>
                <a:latin typeface="Montserrat"/>
                <a:ea typeface="Montserrat"/>
                <a:cs typeface="Montserrat"/>
              </a:rPr>
              <a:t>O GANHO APARECE NO RITMO DA OPERAÇÃO</a:t>
            </a:r>
            <a:endParaRPr lang="pt-BR" sz="2500"/>
          </a:p>
        </p:txBody>
      </p:sp>
      <p:sp>
        <p:nvSpPr>
          <p:cNvPr id="71" name="subtitle"/>
          <p:cNvSpPr txBox="1"/>
          <p:nvPr/>
        </p:nvSpPr>
        <p:spPr>
          <a:xfrm>
            <a:off x="411480" y="1298448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marL="0" indent="0">
              <a:buNone/>
            </a:pPr>
            <a:r>
              <a:rPr sz="1300" b="0" i="1" lang="pt-BR">
                <a:solidFill>
                  <a:srgbClr val="6B7680"/>
                </a:solidFill>
                <a:latin typeface="Work Sans"/>
                <a:ea typeface="Work Sans"/>
                <a:cs typeface="Work Sans"/>
              </a:rPr>
              <a:t>Menos dispersão. Mais foco técnico. Decisões sustentadas por uma trilha de dados.</a:t>
            </a:r>
            <a:endParaRPr lang="pt-BR" sz="1300"/>
          </a:p>
        </p:txBody>
      </p:sp>
      <p:sp>
        <p:nvSpPr>
          <p:cNvPr id="72" name="va_c0"/>
          <p:cNvSpPr/>
          <p:nvPr/>
        </p:nvSpPr>
        <p:spPr>
          <a:xfrm>
            <a:off x="411480" y="1783080"/>
            <a:ext cx="5513832" cy="1874519"/>
          </a:xfrm>
          <a:prstGeom prst="roundRect">
            <a:avLst>
              <a:gd name="adj" fmla="val 6000"/>
            </a:avLst>
          </a:prstGeom>
          <a:solidFill>
            <a:srgbClr val="F2F0EB"/>
          </a:solidFill>
          <a:ln w="12700">
            <a:solidFill>
              <a:srgbClr val="D5D8D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" name="va_i0_c"/>
          <p:cNvSpPr/>
          <p:nvPr/>
        </p:nvSpPr>
        <p:spPr>
          <a:xfrm>
            <a:off x="658368" y="2029967"/>
            <a:ext cx="603504" cy="603504"/>
          </a:xfrm>
          <a:prstGeom prst="ellipse">
            <a:avLst/>
          </a:prstGeom>
          <a:solidFill>
            <a:srgbClr val="00539C"/>
          </a:solidFill>
          <a:ln w="12700">
            <a:solidFill>
              <a:srgbClr val="00539C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74" name="va_i0_ic" descr="ey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208" y="2174808"/>
            <a:ext cx="313822" cy="313822"/>
          </a:xfrm>
          <a:prstGeom prst="rect">
            <a:avLst/>
          </a:prstGeom>
        </p:spPr>
      </p:pic>
      <p:sp>
        <p:nvSpPr>
          <p:cNvPr id="75" name="va_t0"/>
          <p:cNvSpPr txBox="1"/>
          <p:nvPr/>
        </p:nvSpPr>
        <p:spPr>
          <a:xfrm>
            <a:off x="1417320" y="2084831"/>
            <a:ext cx="4233672" cy="502920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marL="0" indent="0">
              <a:buNone/>
            </a:pPr>
            <a:r>
              <a:rPr sz="1700" b="1" i="0" lang="pt-BR">
                <a:solidFill>
                  <a:srgbClr val="00539C"/>
                </a:solidFill>
                <a:latin typeface="Montserrat"/>
                <a:ea typeface="Montserrat"/>
                <a:cs typeface="Montserrat"/>
              </a:rPr>
              <a:t>ENXERGAR</a:t>
            </a:r>
            <a:endParaRPr lang="pt-BR" sz="1700"/>
          </a:p>
        </p:txBody>
      </p:sp>
      <p:sp>
        <p:nvSpPr>
          <p:cNvPr id="76" name="va_d0"/>
          <p:cNvSpPr txBox="1"/>
          <p:nvPr/>
        </p:nvSpPr>
        <p:spPr>
          <a:xfrm>
            <a:off x="731520" y="2788920"/>
            <a:ext cx="4873752" cy="73152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marL="0" indent="0">
              <a:buNone/>
            </a:pPr>
            <a:r>
              <a:rPr sz="1400" b="0" i="0" lang="pt-BR">
                <a:solidFill>
                  <a:srgbClr val="28282D"/>
                </a:solidFill>
                <a:latin typeface="Work Sans"/>
                <a:ea typeface="Work Sans"/>
                <a:cs typeface="Work Sans"/>
              </a:rPr>
              <a:t>Campo e ocorrências com visibilidade compartilhada.</a:t>
            </a:r>
            <a:endParaRPr lang="pt-BR" sz="1400"/>
          </a:p>
        </p:txBody>
      </p:sp>
      <p:sp>
        <p:nvSpPr>
          <p:cNvPr id="77" name="va_c1"/>
          <p:cNvSpPr/>
          <p:nvPr/>
        </p:nvSpPr>
        <p:spPr>
          <a:xfrm>
            <a:off x="6263640" y="1783080"/>
            <a:ext cx="5513832" cy="1874519"/>
          </a:xfrm>
          <a:prstGeom prst="roundRect">
            <a:avLst>
              <a:gd name="adj" fmla="val 6000"/>
            </a:avLst>
          </a:prstGeom>
          <a:solidFill>
            <a:srgbClr val="F2F0EB"/>
          </a:solidFill>
          <a:ln w="12700">
            <a:solidFill>
              <a:srgbClr val="D5D8D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" name="va_i1_c"/>
          <p:cNvSpPr/>
          <p:nvPr/>
        </p:nvSpPr>
        <p:spPr>
          <a:xfrm>
            <a:off x="6510528" y="2029967"/>
            <a:ext cx="603504" cy="603504"/>
          </a:xfrm>
          <a:prstGeom prst="ellipse">
            <a:avLst/>
          </a:prstGeom>
          <a:solidFill>
            <a:srgbClr val="00539C"/>
          </a:solidFill>
          <a:ln w="12700">
            <a:solidFill>
              <a:srgbClr val="00539C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79" name="va_i1_ic" descr="crosshai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5368" y="2174808"/>
            <a:ext cx="313822" cy="313822"/>
          </a:xfrm>
          <a:prstGeom prst="rect">
            <a:avLst/>
          </a:prstGeom>
        </p:spPr>
      </p:pic>
      <p:sp>
        <p:nvSpPr>
          <p:cNvPr id="80" name="va_t1"/>
          <p:cNvSpPr txBox="1"/>
          <p:nvPr/>
        </p:nvSpPr>
        <p:spPr>
          <a:xfrm>
            <a:off x="7269480" y="2084831"/>
            <a:ext cx="4233672" cy="502920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marL="0" indent="0">
              <a:buNone/>
            </a:pPr>
            <a:r>
              <a:rPr sz="1700" b="1" i="0" lang="pt-BR">
                <a:solidFill>
                  <a:srgbClr val="00539C"/>
                </a:solidFill>
                <a:latin typeface="Montserrat"/>
                <a:ea typeface="Montserrat"/>
                <a:cs typeface="Montserrat"/>
              </a:rPr>
              <a:t>PRIORIZAR</a:t>
            </a:r>
            <a:endParaRPr lang="pt-BR" sz="1700"/>
          </a:p>
        </p:txBody>
      </p:sp>
      <p:sp>
        <p:nvSpPr>
          <p:cNvPr id="81" name="va_d1"/>
          <p:cNvSpPr txBox="1"/>
          <p:nvPr/>
        </p:nvSpPr>
        <p:spPr>
          <a:xfrm>
            <a:off x="6583680" y="2788920"/>
            <a:ext cx="4873752" cy="73152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marL="0" indent="0">
              <a:buNone/>
            </a:pPr>
            <a:r>
              <a:rPr sz="1400" b="0" i="0" lang="pt-BR">
                <a:solidFill>
                  <a:srgbClr val="28282D"/>
                </a:solidFill>
                <a:latin typeface="Work Sans"/>
                <a:ea typeface="Work Sans"/>
                <a:cs typeface="Work Sans"/>
              </a:rPr>
              <a:t>Áreas com maior probabilidade recebem atenção primeiro.</a:t>
            </a:r>
            <a:endParaRPr lang="pt-BR" sz="1400"/>
          </a:p>
        </p:txBody>
      </p:sp>
      <p:sp>
        <p:nvSpPr>
          <p:cNvPr id="82" name="va_c2"/>
          <p:cNvSpPr/>
          <p:nvPr/>
        </p:nvSpPr>
        <p:spPr>
          <a:xfrm>
            <a:off x="411480" y="3931920"/>
            <a:ext cx="5513832" cy="1874519"/>
          </a:xfrm>
          <a:prstGeom prst="roundRect">
            <a:avLst>
              <a:gd name="adj" fmla="val 6000"/>
            </a:avLst>
          </a:prstGeom>
          <a:solidFill>
            <a:srgbClr val="F2F0EB"/>
          </a:solidFill>
          <a:ln w="12700">
            <a:solidFill>
              <a:srgbClr val="D5D8D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" name="va_i2_c"/>
          <p:cNvSpPr/>
          <p:nvPr/>
        </p:nvSpPr>
        <p:spPr>
          <a:xfrm>
            <a:off x="658368" y="4178808"/>
            <a:ext cx="603504" cy="603504"/>
          </a:xfrm>
          <a:prstGeom prst="ellipse">
            <a:avLst/>
          </a:prstGeom>
          <a:solidFill>
            <a:srgbClr val="00539C"/>
          </a:solidFill>
          <a:ln w="12700">
            <a:solidFill>
              <a:srgbClr val="00539C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4" name="va_i2_ic" descr="us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208" y="4323648"/>
            <a:ext cx="313822" cy="313822"/>
          </a:xfrm>
          <a:prstGeom prst="rect">
            <a:avLst/>
          </a:prstGeom>
        </p:spPr>
      </p:pic>
      <p:sp>
        <p:nvSpPr>
          <p:cNvPr id="85" name="va_t2"/>
          <p:cNvSpPr txBox="1"/>
          <p:nvPr/>
        </p:nvSpPr>
        <p:spPr>
          <a:xfrm>
            <a:off x="1417320" y="4233672"/>
            <a:ext cx="4233672" cy="502920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marL="0" indent="0">
              <a:buNone/>
            </a:pPr>
            <a:r>
              <a:rPr sz="1700" b="1" i="0" lang="pt-BR">
                <a:solidFill>
                  <a:srgbClr val="00539C"/>
                </a:solidFill>
                <a:latin typeface="Montserrat"/>
                <a:ea typeface="Montserrat"/>
                <a:cs typeface="Montserrat"/>
              </a:rPr>
              <a:t>COORDENAR</a:t>
            </a:r>
            <a:endParaRPr lang="pt-BR" sz="1700"/>
          </a:p>
        </p:txBody>
      </p:sp>
      <p:sp>
        <p:nvSpPr>
          <p:cNvPr id="86" name="va_d2"/>
          <p:cNvSpPr txBox="1"/>
          <p:nvPr/>
        </p:nvSpPr>
        <p:spPr>
          <a:xfrm>
            <a:off x="731520" y="4937760"/>
            <a:ext cx="4873752" cy="73152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marL="0" indent="0">
              <a:buNone/>
            </a:pPr>
            <a:r>
              <a:rPr sz="1400" b="0" i="0" lang="pt-BR">
                <a:solidFill>
                  <a:srgbClr val="28282D"/>
                </a:solidFill>
                <a:latin typeface="Work Sans"/>
                <a:ea typeface="Work Sans"/>
                <a:cs typeface="Work Sans"/>
              </a:rPr>
              <a:t>Equipes e dispositivos trabalham sobre o mesmo contexto.</a:t>
            </a:r>
            <a:endParaRPr lang="pt-BR" sz="1400"/>
          </a:p>
        </p:txBody>
      </p:sp>
      <p:sp>
        <p:nvSpPr>
          <p:cNvPr id="87" name="va_c3"/>
          <p:cNvSpPr/>
          <p:nvPr/>
        </p:nvSpPr>
        <p:spPr>
          <a:xfrm>
            <a:off x="6263640" y="3931920"/>
            <a:ext cx="5513832" cy="1874519"/>
          </a:xfrm>
          <a:prstGeom prst="roundRect">
            <a:avLst>
              <a:gd name="adj" fmla="val 6000"/>
            </a:avLst>
          </a:prstGeom>
          <a:solidFill>
            <a:srgbClr val="F2F0EB"/>
          </a:solidFill>
          <a:ln w="12700">
            <a:solidFill>
              <a:srgbClr val="D5D8D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8" name="va_i3_c"/>
          <p:cNvSpPr/>
          <p:nvPr/>
        </p:nvSpPr>
        <p:spPr>
          <a:xfrm>
            <a:off x="6510528" y="4178808"/>
            <a:ext cx="603504" cy="603504"/>
          </a:xfrm>
          <a:prstGeom prst="ellipse">
            <a:avLst/>
          </a:prstGeom>
          <a:solidFill>
            <a:srgbClr val="00539C"/>
          </a:solidFill>
          <a:ln w="12700">
            <a:solidFill>
              <a:srgbClr val="00539C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9" name="va_i3_ic" descr="checkcirc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5368" y="4323648"/>
            <a:ext cx="313822" cy="313822"/>
          </a:xfrm>
          <a:prstGeom prst="rect">
            <a:avLst/>
          </a:prstGeom>
        </p:spPr>
      </p:pic>
      <p:sp>
        <p:nvSpPr>
          <p:cNvPr id="90" name="va_t3"/>
          <p:cNvSpPr txBox="1"/>
          <p:nvPr/>
        </p:nvSpPr>
        <p:spPr>
          <a:xfrm>
            <a:off x="7269480" y="4233672"/>
            <a:ext cx="4233672" cy="502920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marL="0" indent="0">
              <a:buNone/>
            </a:pPr>
            <a:r>
              <a:rPr sz="1700" b="1" i="0" lang="pt-BR">
                <a:solidFill>
                  <a:srgbClr val="00539C"/>
                </a:solidFill>
                <a:latin typeface="Montserrat"/>
                <a:ea typeface="Montserrat"/>
                <a:cs typeface="Montserrat"/>
              </a:rPr>
              <a:t>COMPROVAR</a:t>
            </a:r>
            <a:endParaRPr lang="pt-BR" sz="1700"/>
          </a:p>
        </p:txBody>
      </p:sp>
      <p:sp>
        <p:nvSpPr>
          <p:cNvPr id="91" name="va_d3"/>
          <p:cNvSpPr txBox="1"/>
          <p:nvPr/>
        </p:nvSpPr>
        <p:spPr>
          <a:xfrm>
            <a:off x="6583680" y="4937760"/>
            <a:ext cx="4873752" cy="73152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marL="0" indent="0">
              <a:buNone/>
            </a:pPr>
            <a:r>
              <a:rPr sz="1400" b="0" i="0" lang="pt-BR">
                <a:solidFill>
                  <a:srgbClr val="28282D"/>
                </a:solidFill>
                <a:latin typeface="Work Sans"/>
                <a:ea typeface="Work Sans"/>
                <a:cs typeface="Work Sans"/>
              </a:rPr>
              <a:t>Evidências e histórico apoiam decisões auditáveis.</a:t>
            </a:r>
            <a:endParaRPr lang="pt-BR" sz="1400"/>
          </a:p>
        </p:txBody>
      </p:sp>
      <p:sp>
        <p:nvSpPr>
          <p:cNvPr id="92" name="source"/>
          <p:cNvSpPr txBox="1"/>
          <p:nvPr/>
        </p:nvSpPr>
        <p:spPr>
          <a:xfrm>
            <a:off x="640080" y="6382512"/>
            <a:ext cx="7223760" cy="201168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marL="0" indent="0">
              <a:buNone/>
            </a:pPr>
            <a:r>
              <a:rPr sz="800" b="0" i="0" lang="pt-BR">
                <a:solidFill>
                  <a:srgbClr val="28282D"/>
                </a:solidFill>
                <a:latin typeface="Work Sans"/>
                <a:ea typeface="Work Sans"/>
                <a:cs typeface="Work Sans"/>
              </a:rPr>
              <a:t>Fonte: Hydroforce — desafios operacionais e proposta de valor institucional.</a:t>
            </a:r>
            <a:endParaRPr lang="pt-BR" sz="8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07040" y="6254496"/>
            <a:ext cx="13716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28282D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1" lang="pt-BR"/>
              <a:t>2</a:t>
            </a:fld>
            <a:endParaRPr lang="pt-BR"/>
          </a:p>
        </p:txBody>
      </p:sp>
      <p:sp>
        <p:nvSpPr>
          <p:cNvPr id="69" name="!!label"/>
          <p:cNvSpPr txBox="1"/>
          <p:nvPr/>
        </p:nvSpPr>
        <p:spPr>
          <a:xfrm>
            <a:off x="411480" y="292608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marL="0" indent="0">
              <a:buNone/>
            </a:pPr>
            <a:r>
              <a:rPr sz="1300" b="0" i="1" lang="pt-BR">
                <a:solidFill>
                  <a:srgbClr val="5B6B75"/>
                </a:solidFill>
                <a:latin typeface="Work Sans"/>
                <a:ea typeface="Work Sans"/>
                <a:cs typeface="Work Sans"/>
              </a:rPr>
              <a:t>Aplicações</a:t>
            </a:r>
            <a:endParaRPr lang="pt-BR" sz="1300"/>
          </a:p>
        </p:txBody>
      </p:sp>
      <p:sp>
        <p:nvSpPr>
          <p:cNvPr id="70" name="!!title"/>
          <p:cNvSpPr txBox="1"/>
          <p:nvPr/>
        </p:nvSpPr>
        <p:spPr>
          <a:xfrm>
            <a:off x="411480" y="530352"/>
            <a:ext cx="11338560" cy="566928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marL="0" indent="0">
              <a:buNone/>
            </a:pPr>
            <a:r>
              <a:rPr sz="2500" b="1" i="0" lang="pt-BR">
                <a:solidFill>
                  <a:srgbClr val="28282D"/>
                </a:solidFill>
                <a:latin typeface="Montserrat"/>
                <a:ea typeface="Montserrat"/>
                <a:cs typeface="Montserrat"/>
              </a:rPr>
              <a:t>ONDE A SOLUÇÃO TENDE A GERAR MAIS IMPACTO</a:t>
            </a:r>
            <a:endParaRPr lang="pt-BR" sz="2500"/>
          </a:p>
        </p:txBody>
      </p:sp>
      <p:sp>
        <p:nvSpPr>
          <p:cNvPr id="71" name="subtitle"/>
          <p:cNvSpPr txBox="1"/>
          <p:nvPr/>
        </p:nvSpPr>
        <p:spPr>
          <a:xfrm>
            <a:off x="411480" y="1298448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marL="0" indent="0">
              <a:buNone/>
            </a:pPr>
            <a:r>
              <a:rPr sz="1300" b="0" i="1" lang="pt-BR">
                <a:solidFill>
                  <a:srgbClr val="6B7680"/>
                </a:solidFill>
                <a:latin typeface="Work Sans"/>
                <a:ea typeface="Work Sans"/>
                <a:cs typeface="Work Sans"/>
              </a:rPr>
              <a:t>Cenários com pressão por eficiência, escala territorial e necessidade de coordenação.</a:t>
            </a:r>
            <a:endParaRPr lang="pt-BR" sz="1300"/>
          </a:p>
        </p:txBody>
      </p:sp>
      <p:sp>
        <p:nvSpPr>
          <p:cNvPr id="72" name="ap_ag0_c"/>
          <p:cNvSpPr/>
          <p:nvPr/>
        </p:nvSpPr>
        <p:spPr>
          <a:xfrm>
            <a:off x="457200" y="1874519"/>
            <a:ext cx="420624" cy="420624"/>
          </a:xfrm>
          <a:prstGeom prst="ellipse">
            <a:avLst/>
          </a:prstGeom>
          <a:noFill/>
          <a:ln w="19050">
            <a:solidFill>
              <a:srgbClr val="00539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" name="ap_ag0_n"/>
          <p:cNvSpPr txBox="1"/>
          <p:nvPr/>
        </p:nvSpPr>
        <p:spPr>
          <a:xfrm>
            <a:off x="457200" y="1874519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algn="ctr" marL="0" indent="0">
              <a:buNone/>
            </a:pPr>
            <a:r>
              <a:rPr sz="1200" b="1" i="0" lang="pt-BR">
                <a:solidFill>
                  <a:srgbClr val="00539C"/>
                </a:solidFill>
                <a:latin typeface="Montserrat"/>
                <a:ea typeface="Montserrat"/>
                <a:cs typeface="Montserrat"/>
              </a:rPr>
              <a:t>01</a:t>
            </a:r>
            <a:endParaRPr lang="pt-BR" sz="1200"/>
          </a:p>
        </p:txBody>
      </p:sp>
      <p:sp>
        <p:nvSpPr>
          <p:cNvPr id="74" name="ap_t0"/>
          <p:cNvSpPr txBox="1"/>
          <p:nvPr/>
        </p:nvSpPr>
        <p:spPr>
          <a:xfrm>
            <a:off x="1097280" y="1856231"/>
            <a:ext cx="6035040" cy="457200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marL="0" indent="0">
              <a:buNone/>
            </a:pPr>
            <a:r>
              <a:rPr sz="1400" b="1" i="0" lang="pt-BR">
                <a:solidFill>
                  <a:srgbClr val="28282D"/>
                </a:solidFill>
                <a:latin typeface="Montserrat"/>
                <a:ea typeface="Montserrat"/>
                <a:cs typeface="Montserrat"/>
              </a:rPr>
              <a:t>OPERAÇÕES PÚBLICAS E PRIVADAS</a:t>
            </a:r>
            <a:endParaRPr lang="pt-BR" sz="1400"/>
          </a:p>
        </p:txBody>
      </p:sp>
      <p:sp>
        <p:nvSpPr>
          <p:cNvPr id="75" name="ap_d0"/>
          <p:cNvSpPr txBox="1"/>
          <p:nvPr/>
        </p:nvSpPr>
        <p:spPr>
          <a:xfrm>
            <a:off x="1097280" y="2313432"/>
            <a:ext cx="6035040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marL="0" indent="0">
              <a:buNone/>
            </a:pPr>
            <a:r>
              <a:rPr sz="1300" b="0" i="0" lang="pt-BR">
                <a:solidFill>
                  <a:srgbClr val="5B6B75"/>
                </a:solidFill>
                <a:latin typeface="Work Sans"/>
                <a:ea typeface="Work Sans"/>
                <a:cs typeface="Work Sans"/>
              </a:rPr>
              <a:t>modernização da gestão de perdas em redes de abastecimento</a:t>
            </a:r>
            <a:endParaRPr lang="pt-BR" sz="1300"/>
          </a:p>
        </p:txBody>
      </p:sp>
      <p:cxnSp>
        <p:nvCxnSpPr>
          <p:cNvPr id="76" name="ap_ln0"/>
          <p:cNvCxnSpPr/>
          <p:nvPr/>
        </p:nvCxnSpPr>
        <p:spPr>
          <a:xfrm>
            <a:off x="1097280" y="2715768"/>
            <a:ext cx="6035040" cy="0"/>
          </a:xfrm>
          <a:prstGeom prst="line">
            <a:avLst/>
          </a:prstGeom>
          <a:ln w="6350">
            <a:solidFill>
              <a:srgbClr val="28282D"/>
            </a:solidFill>
          </a:ln>
        </p:spPr>
      </p:cxnSp>
      <p:sp>
        <p:nvSpPr>
          <p:cNvPr id="77" name="ap_ag1_c"/>
          <p:cNvSpPr/>
          <p:nvPr/>
        </p:nvSpPr>
        <p:spPr>
          <a:xfrm>
            <a:off x="457200" y="2862072"/>
            <a:ext cx="420624" cy="420624"/>
          </a:xfrm>
          <a:prstGeom prst="ellipse">
            <a:avLst/>
          </a:prstGeom>
          <a:noFill/>
          <a:ln w="19050">
            <a:solidFill>
              <a:srgbClr val="00539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" name="ap_ag1_n"/>
          <p:cNvSpPr txBox="1"/>
          <p:nvPr/>
        </p:nvSpPr>
        <p:spPr>
          <a:xfrm>
            <a:off x="457200" y="2862072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algn="ctr" marL="0" indent="0">
              <a:buNone/>
            </a:pPr>
            <a:r>
              <a:rPr sz="1200" b="1" i="0" lang="pt-BR">
                <a:solidFill>
                  <a:srgbClr val="00539C"/>
                </a:solidFill>
                <a:latin typeface="Montserrat"/>
                <a:ea typeface="Montserrat"/>
                <a:cs typeface="Montserrat"/>
              </a:rPr>
              <a:t>02</a:t>
            </a:r>
            <a:endParaRPr lang="pt-BR" sz="1200"/>
          </a:p>
        </p:txBody>
      </p:sp>
      <p:sp>
        <p:nvSpPr>
          <p:cNvPr id="79" name="ap_t1"/>
          <p:cNvSpPr txBox="1"/>
          <p:nvPr/>
        </p:nvSpPr>
        <p:spPr>
          <a:xfrm>
            <a:off x="1097280" y="2843784"/>
            <a:ext cx="6035040" cy="457200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marL="0" indent="0">
              <a:buNone/>
            </a:pPr>
            <a:r>
              <a:rPr sz="1400" b="1" i="0" lang="pt-BR">
                <a:solidFill>
                  <a:srgbClr val="28282D"/>
                </a:solidFill>
                <a:latin typeface="Montserrat"/>
                <a:ea typeface="Montserrat"/>
                <a:cs typeface="Montserrat"/>
              </a:rPr>
              <a:t>REDES EXTENSAS OU SETORIZADAS</a:t>
            </a:r>
            <a:endParaRPr lang="pt-BR" sz="1400"/>
          </a:p>
        </p:txBody>
      </p:sp>
      <p:sp>
        <p:nvSpPr>
          <p:cNvPr id="80" name="ap_d1"/>
          <p:cNvSpPr txBox="1"/>
          <p:nvPr/>
        </p:nvSpPr>
        <p:spPr>
          <a:xfrm>
            <a:off x="1097280" y="3300984"/>
            <a:ext cx="6035040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marL="0" indent="0">
              <a:buNone/>
            </a:pPr>
            <a:r>
              <a:rPr sz="1300" b="0" i="0" lang="pt-BR">
                <a:solidFill>
                  <a:srgbClr val="5B6B75"/>
                </a:solidFill>
                <a:latin typeface="Work Sans"/>
                <a:ea typeface="Work Sans"/>
                <a:cs typeface="Work Sans"/>
              </a:rPr>
              <a:t>monitoramento de regiões críticas e regimes de pressão</a:t>
            </a:r>
            <a:endParaRPr lang="pt-BR" sz="1300"/>
          </a:p>
        </p:txBody>
      </p:sp>
      <p:cxnSp>
        <p:nvCxnSpPr>
          <p:cNvPr id="81" name="ap_ln1"/>
          <p:cNvCxnSpPr/>
          <p:nvPr/>
        </p:nvCxnSpPr>
        <p:spPr>
          <a:xfrm>
            <a:off x="1097280" y="3703320"/>
            <a:ext cx="6035040" cy="0"/>
          </a:xfrm>
          <a:prstGeom prst="line">
            <a:avLst/>
          </a:prstGeom>
          <a:ln w="6350">
            <a:solidFill>
              <a:srgbClr val="28282D"/>
            </a:solidFill>
          </a:ln>
        </p:spPr>
      </p:cxnSp>
      <p:sp>
        <p:nvSpPr>
          <p:cNvPr id="82" name="ap_ag2_c"/>
          <p:cNvSpPr/>
          <p:nvPr/>
        </p:nvSpPr>
        <p:spPr>
          <a:xfrm>
            <a:off x="457200" y="3849624"/>
            <a:ext cx="420624" cy="420624"/>
          </a:xfrm>
          <a:prstGeom prst="ellipse">
            <a:avLst/>
          </a:prstGeom>
          <a:noFill/>
          <a:ln w="19050">
            <a:solidFill>
              <a:srgbClr val="00539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" name="ap_ag2_n"/>
          <p:cNvSpPr txBox="1"/>
          <p:nvPr/>
        </p:nvSpPr>
        <p:spPr>
          <a:xfrm>
            <a:off x="457200" y="3849624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algn="ctr" marL="0" indent="0">
              <a:buNone/>
            </a:pPr>
            <a:r>
              <a:rPr sz="1200" b="1" i="0" lang="pt-BR">
                <a:solidFill>
                  <a:srgbClr val="00539C"/>
                </a:solidFill>
                <a:latin typeface="Montserrat"/>
                <a:ea typeface="Montserrat"/>
                <a:cs typeface="Montserrat"/>
              </a:rPr>
              <a:t>03</a:t>
            </a:r>
            <a:endParaRPr lang="pt-BR" sz="1200"/>
          </a:p>
        </p:txBody>
      </p:sp>
      <p:sp>
        <p:nvSpPr>
          <p:cNvPr id="84" name="ap_t2"/>
          <p:cNvSpPr txBox="1"/>
          <p:nvPr/>
        </p:nvSpPr>
        <p:spPr>
          <a:xfrm>
            <a:off x="1097280" y="3831336"/>
            <a:ext cx="6035040" cy="457200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marL="0" indent="0">
              <a:buNone/>
            </a:pPr>
            <a:r>
              <a:rPr sz="1400" b="1" i="0" lang="pt-BR">
                <a:solidFill>
                  <a:srgbClr val="28282D"/>
                </a:solidFill>
                <a:latin typeface="Montserrat"/>
                <a:ea typeface="Montserrat"/>
                <a:cs typeface="Montserrat"/>
              </a:rPr>
              <a:t>EQUIPES DISTRIBUÍDAS</a:t>
            </a:r>
            <a:endParaRPr lang="pt-BR" sz="1400"/>
          </a:p>
        </p:txBody>
      </p:sp>
      <p:sp>
        <p:nvSpPr>
          <p:cNvPr id="85" name="ap_d2"/>
          <p:cNvSpPr txBox="1"/>
          <p:nvPr/>
        </p:nvSpPr>
        <p:spPr>
          <a:xfrm>
            <a:off x="1097280" y="4288536"/>
            <a:ext cx="6035040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marL="0" indent="0">
              <a:buNone/>
            </a:pPr>
            <a:r>
              <a:rPr sz="1300" b="0" i="0" lang="pt-BR">
                <a:solidFill>
                  <a:srgbClr val="5B6B75"/>
                </a:solidFill>
                <a:latin typeface="Work Sans"/>
                <a:ea typeface="Work Sans"/>
                <a:cs typeface="Work Sans"/>
              </a:rPr>
              <a:t>coordenação de dispositivos, campo, evidências e ocorrências</a:t>
            </a:r>
            <a:endParaRPr lang="pt-BR" sz="1300"/>
          </a:p>
        </p:txBody>
      </p:sp>
      <p:cxnSp>
        <p:nvCxnSpPr>
          <p:cNvPr id="86" name="ap_ln2"/>
          <p:cNvCxnSpPr/>
          <p:nvPr/>
        </p:nvCxnSpPr>
        <p:spPr>
          <a:xfrm>
            <a:off x="1097280" y="4690872"/>
            <a:ext cx="6035040" cy="0"/>
          </a:xfrm>
          <a:prstGeom prst="line">
            <a:avLst/>
          </a:prstGeom>
          <a:ln w="6350">
            <a:solidFill>
              <a:srgbClr val="28282D"/>
            </a:solidFill>
          </a:ln>
        </p:spPr>
      </p:cxnSp>
      <p:sp>
        <p:nvSpPr>
          <p:cNvPr id="87" name="ap_ag3_c"/>
          <p:cNvSpPr/>
          <p:nvPr/>
        </p:nvSpPr>
        <p:spPr>
          <a:xfrm>
            <a:off x="457200" y="4837176"/>
            <a:ext cx="420624" cy="420624"/>
          </a:xfrm>
          <a:prstGeom prst="ellipse">
            <a:avLst/>
          </a:prstGeom>
          <a:noFill/>
          <a:ln w="19050">
            <a:solidFill>
              <a:srgbClr val="00539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8" name="ap_ag3_n"/>
          <p:cNvSpPr txBox="1"/>
          <p:nvPr/>
        </p:nvSpPr>
        <p:spPr>
          <a:xfrm>
            <a:off x="457200" y="4837176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algn="ctr" marL="0" indent="0">
              <a:buNone/>
            </a:pPr>
            <a:r>
              <a:rPr sz="1200" b="1" i="0" lang="pt-BR">
                <a:solidFill>
                  <a:srgbClr val="00539C"/>
                </a:solidFill>
                <a:latin typeface="Montserrat"/>
                <a:ea typeface="Montserrat"/>
                <a:cs typeface="Montserrat"/>
              </a:rPr>
              <a:t>04</a:t>
            </a:r>
            <a:endParaRPr lang="pt-BR" sz="1200"/>
          </a:p>
        </p:txBody>
      </p:sp>
      <p:sp>
        <p:nvSpPr>
          <p:cNvPr id="89" name="ap_t3"/>
          <p:cNvSpPr txBox="1"/>
          <p:nvPr/>
        </p:nvSpPr>
        <p:spPr>
          <a:xfrm>
            <a:off x="1097280" y="4818888"/>
            <a:ext cx="6035040" cy="457200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marL="0" indent="0">
              <a:buNone/>
            </a:pPr>
            <a:r>
              <a:rPr sz="1400" b="1" i="0" lang="pt-BR">
                <a:solidFill>
                  <a:srgbClr val="28282D"/>
                </a:solidFill>
                <a:latin typeface="Montserrat"/>
                <a:ea typeface="Montserrat"/>
                <a:cs typeface="Montserrat"/>
              </a:rPr>
              <a:t>INVESTIGAÇÕES RECORRENTES</a:t>
            </a:r>
            <a:endParaRPr lang="pt-BR" sz="1400"/>
          </a:p>
        </p:txBody>
      </p:sp>
      <p:sp>
        <p:nvSpPr>
          <p:cNvPr id="90" name="ap_d3"/>
          <p:cNvSpPr txBox="1"/>
          <p:nvPr/>
        </p:nvSpPr>
        <p:spPr>
          <a:xfrm>
            <a:off x="1097280" y="5276088"/>
            <a:ext cx="6035040" cy="365760"/>
          </a:xfrm>
          <a:prstGeom prst="rect">
            <a:avLst/>
          </a:prstGeom>
          <a:noFill/>
        </p:spPr>
        <p:txBody>
          <a:bodyPr wrap="square" lIns="0" rIns="0" tIns="0" bIns="0" anchor="t" rtlCol="0">
            <a:spAutoFit/>
          </a:bodyPr>
          <a:lstStyle/>
          <a:p>
            <a:pPr marL="0" indent="0">
              <a:buNone/>
            </a:pPr>
            <a:r>
              <a:rPr sz="1300" b="0" i="0" lang="pt-BR">
                <a:solidFill>
                  <a:srgbClr val="5B6B75"/>
                </a:solidFill>
                <a:latin typeface="Work Sans"/>
                <a:ea typeface="Work Sans"/>
                <a:cs typeface="Work Sans"/>
              </a:rPr>
              <a:t>histórico rastreável para aprender com cada ciclo operacional</a:t>
            </a:r>
            <a:endParaRPr lang="pt-BR" sz="1300"/>
          </a:p>
        </p:txBody>
      </p:sp>
      <p:cxnSp>
        <p:nvCxnSpPr>
          <p:cNvPr id="91" name="ap_ln3"/>
          <p:cNvCxnSpPr/>
          <p:nvPr/>
        </p:nvCxnSpPr>
        <p:spPr>
          <a:xfrm>
            <a:off x="1097280" y="5678424"/>
            <a:ext cx="6035040" cy="0"/>
          </a:xfrm>
          <a:prstGeom prst="line">
            <a:avLst/>
          </a:prstGeom>
          <a:ln w="6350">
            <a:solidFill>
              <a:srgbClr val="28282D"/>
            </a:solidFill>
          </a:ln>
        </p:spPr>
      </p:cxnSp>
      <p:pic>
        <p:nvPicPr>
          <p:cNvPr id="92" name="img_pipes" descr="pipes_cover_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1231" y="1783080"/>
            <a:ext cx="4206240" cy="4023360"/>
          </a:xfrm>
          <a:prstGeom prst="roundRect">
            <a:avLst>
              <a:gd name="adj" fmla="val 3200"/>
            </a:avLst>
          </a:prstGeom>
        </p:spPr>
      </p:pic>
      <p:sp>
        <p:nvSpPr>
          <p:cNvPr id="93" name="note"/>
          <p:cNvSpPr txBox="1"/>
          <p:nvPr/>
        </p:nvSpPr>
        <p:spPr>
          <a:xfrm>
            <a:off x="7571231" y="5852160"/>
            <a:ext cx="4206240" cy="246888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algn="ctr" marL="0" indent="0">
              <a:buNone/>
            </a:pPr>
            <a:r>
              <a:rPr sz="1100" b="0" i="1" lang="pt-BR">
                <a:solidFill>
                  <a:srgbClr val="6B7680"/>
                </a:solidFill>
                <a:latin typeface="Work Sans"/>
                <a:ea typeface="Work Sans"/>
                <a:cs typeface="Work Sans"/>
              </a:rPr>
              <a:t>Imagem conceitual</a:t>
            </a:r>
            <a:endParaRPr lang="pt-BR" sz="1100"/>
          </a:p>
        </p:txBody>
      </p:sp>
      <p:sp>
        <p:nvSpPr>
          <p:cNvPr id="94" name="source"/>
          <p:cNvSpPr txBox="1"/>
          <p:nvPr/>
        </p:nvSpPr>
        <p:spPr>
          <a:xfrm>
            <a:off x="640080" y="6382512"/>
            <a:ext cx="7223760" cy="201168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marL="0" indent="0">
              <a:buNone/>
            </a:pPr>
            <a:r>
              <a:rPr sz="800" b="0" i="0" lang="pt-BR">
                <a:solidFill>
                  <a:srgbClr val="28282D"/>
                </a:solidFill>
                <a:latin typeface="Work Sans"/>
                <a:ea typeface="Work Sans"/>
                <a:cs typeface="Work Sans"/>
              </a:rPr>
              <a:t>Fonte: Hydroforce — operações públicas, privadas e ecossistemas ligados à modernização do saneamento.</a:t>
            </a:r>
            <a:endParaRPr lang="pt-BR" sz="8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07040" y="6254496"/>
            <a:ext cx="13716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28282D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1" lang="pt-BR"/>
              <a:t>2</a:t>
            </a:fld>
            <a:endParaRPr lang="pt-BR"/>
          </a:p>
        </p:txBody>
      </p:sp>
      <p:sp>
        <p:nvSpPr>
          <p:cNvPr id="69" name="!!label"/>
          <p:cNvSpPr txBox="1"/>
          <p:nvPr/>
        </p:nvSpPr>
        <p:spPr>
          <a:xfrm>
            <a:off x="411480" y="292608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marL="0" indent="0">
              <a:buNone/>
            </a:pPr>
            <a:r>
              <a:rPr sz="1300" b="0" i="1" lang="pt-BR">
                <a:solidFill>
                  <a:srgbClr val="5B6B75"/>
                </a:solidFill>
                <a:latin typeface="Work Sans"/>
                <a:ea typeface="Work Sans"/>
                <a:cs typeface="Work Sans"/>
              </a:rPr>
              <a:t>Diferenciais</a:t>
            </a:r>
            <a:endParaRPr lang="pt-BR" sz="1300"/>
          </a:p>
        </p:txBody>
      </p:sp>
      <p:sp>
        <p:nvSpPr>
          <p:cNvPr id="70" name="!!title"/>
          <p:cNvSpPr txBox="1"/>
          <p:nvPr/>
        </p:nvSpPr>
        <p:spPr>
          <a:xfrm>
            <a:off x="411480" y="530352"/>
            <a:ext cx="11338560" cy="566928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marL="0" indent="0">
              <a:buNone/>
            </a:pPr>
            <a:r>
              <a:rPr sz="2500" b="1" i="0" lang="pt-BR">
                <a:solidFill>
                  <a:srgbClr val="28282D"/>
                </a:solidFill>
                <a:latin typeface="Montserrat"/>
                <a:ea typeface="Montserrat"/>
                <a:cs typeface="Montserrat"/>
              </a:rPr>
              <a:t>TECNOLOGIA BRASILEIRA, ARQUITETURA INTEGRADA</a:t>
            </a:r>
            <a:endParaRPr lang="pt-BR" sz="2500"/>
          </a:p>
        </p:txBody>
      </p:sp>
      <p:sp>
        <p:nvSpPr>
          <p:cNvPr id="71" name="subtitle"/>
          <p:cNvSpPr txBox="1"/>
          <p:nvPr/>
        </p:nvSpPr>
        <p:spPr>
          <a:xfrm>
            <a:off x="411480" y="1298448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marL="0" indent="0">
              <a:buNone/>
            </a:pPr>
            <a:r>
              <a:rPr sz="1300" b="0" i="1" lang="pt-BR">
                <a:solidFill>
                  <a:srgbClr val="6B7680"/>
                </a:solidFill>
                <a:latin typeface="Work Sans"/>
                <a:ea typeface="Work Sans"/>
                <a:cs typeface="Work Sans"/>
              </a:rPr>
              <a:t>O diferencial está na continuidade entre o sinal da rede e a decisão de campo.</a:t>
            </a:r>
            <a:endParaRPr lang="pt-BR" sz="1300"/>
          </a:p>
        </p:txBody>
      </p:sp>
      <p:graphicFrame>
        <p:nvGraphicFramePr>
          <p:cNvPr id="72" name="table"/>
          <p:cNvGraphicFramePr>
            <a:graphicFrameLocks noGrp="1"/>
          </p:cNvGraphicFramePr>
          <p:nvPr/>
        </p:nvGraphicFramePr>
        <p:xfrm>
          <a:off x="411480" y="1783080"/>
          <a:ext cx="11365992" cy="3703320"/>
        </p:xfrm>
        <a:graphic>
          <a:graphicData uri="http://schemas.openxmlformats.org/drawingml/2006/table">
            <a:tbl>
              <a:tblPr/>
              <a:tblGrid>
                <a:gridCol w="731520"/>
                <a:gridCol w="3840480"/>
                <a:gridCol w="6793992"/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 b="1" i="0" lang="pt-BR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#</a:t>
                      </a: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5D8DC"/>
                      </a:solidFill>
                      <a:prstDash val="soli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</a:lnB>
                    <a:solidFill>
                      <a:srgbClr val="00539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 b="1" i="0" lang="pt-BR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Diferencial</a:t>
                      </a: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5D8DC"/>
                      </a:solidFill>
                      <a:prstDash val="soli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</a:lnB>
                    <a:solidFill>
                      <a:srgbClr val="00539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 b="1" i="0" lang="pt-BR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O que entrega</a:t>
                      </a: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5D8DC"/>
                      </a:solidFill>
                      <a:prstDash val="soli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</a:lnB>
                    <a:solidFill>
                      <a:srgbClr val="00539C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 b="1" i="0" lang="pt-BR">
                          <a:solidFill>
                            <a:srgbClr val="00539C"/>
                          </a:solidFill>
                          <a:latin typeface="Montserrat"/>
                          <a:ea typeface="Work Sans"/>
                          <a:cs typeface="Work Sans"/>
                        </a:rPr>
                        <a:t>01</a:t>
                      </a: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5D8DC"/>
                      </a:solidFill>
                      <a:prstDash val="soli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 b="1" i="0" lang="pt-BR">
                          <a:solidFill>
                            <a:srgbClr val="28282D"/>
                          </a:solidFill>
                          <a:latin typeface="Work Sans"/>
                          <a:ea typeface="Work Sans"/>
                          <a:cs typeface="Work Sans"/>
                        </a:rPr>
                        <a:t>Equipamentos próprios</a:t>
                      </a: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5D8DC"/>
                      </a:solidFill>
                      <a:prstDash val="soli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 b="0" i="0" lang="pt-BR">
                          <a:solidFill>
                            <a:srgbClr val="28282D"/>
                          </a:solidFill>
                          <a:latin typeface="Work Sans"/>
                          <a:ea typeface="Work Sans"/>
                          <a:cs typeface="Work Sans"/>
                        </a:rPr>
                        <a:t>sensores e coleta de dados na rede</a:t>
                      </a: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5D8DC"/>
                      </a:solidFill>
                      <a:prstDash val="soli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 b="1" i="0" lang="pt-BR">
                          <a:solidFill>
                            <a:srgbClr val="00539C"/>
                          </a:solidFill>
                          <a:latin typeface="Montserrat"/>
                          <a:ea typeface="Work Sans"/>
                          <a:cs typeface="Work Sans"/>
                        </a:rPr>
                        <a:t>02</a:t>
                      </a: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5D8DC"/>
                      </a:solidFill>
                      <a:prstDash val="soli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 b="1" i="0" lang="pt-BR">
                          <a:solidFill>
                            <a:srgbClr val="28282D"/>
                          </a:solidFill>
                          <a:latin typeface="Work Sans"/>
                          <a:ea typeface="Work Sans"/>
                          <a:cs typeface="Work Sans"/>
                        </a:rPr>
                        <a:t>Plataforma digital</a:t>
                      </a: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5D8DC"/>
                      </a:solidFill>
                      <a:prstDash val="soli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 b="0" i="0" lang="pt-BR">
                          <a:solidFill>
                            <a:srgbClr val="28282D"/>
                          </a:solidFill>
                          <a:latin typeface="Work Sans"/>
                          <a:ea typeface="Work Sans"/>
                          <a:cs typeface="Work Sans"/>
                        </a:rPr>
                        <a:t>gestão, análise, evidências e indicadores</a:t>
                      </a: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5D8DC"/>
                      </a:solidFill>
                      <a:prstDash val="soli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</a:lnB>
                    <a:solidFill>
                      <a:srgbClr val="F7F5F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 b="1" i="0" lang="pt-BR">
                          <a:solidFill>
                            <a:srgbClr val="00539C"/>
                          </a:solidFill>
                          <a:latin typeface="Montserrat"/>
                          <a:ea typeface="Work Sans"/>
                          <a:cs typeface="Work Sans"/>
                        </a:rPr>
                        <a:t>03</a:t>
                      </a: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5D8DC"/>
                      </a:solidFill>
                      <a:prstDash val="soli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 b="1" i="0" lang="pt-BR">
                          <a:solidFill>
                            <a:srgbClr val="28282D"/>
                          </a:solidFill>
                          <a:latin typeface="Work Sans"/>
                          <a:ea typeface="Work Sans"/>
                          <a:cs typeface="Work Sans"/>
                        </a:rPr>
                        <a:t>Aplicativo de campo</a:t>
                      </a: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5D8DC"/>
                      </a:solidFill>
                      <a:prstDash val="soli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 b="0" i="0" lang="pt-BR">
                          <a:solidFill>
                            <a:srgbClr val="28282D"/>
                          </a:solidFill>
                          <a:latin typeface="Work Sans"/>
                          <a:ea typeface="Work Sans"/>
                          <a:cs typeface="Work Sans"/>
                        </a:rPr>
                        <a:t>execução conectada entre web e Android</a:t>
                      </a: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5D8DC"/>
                      </a:solidFill>
                      <a:prstDash val="soli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 b="1" i="0" lang="pt-BR">
                          <a:solidFill>
                            <a:srgbClr val="00539C"/>
                          </a:solidFill>
                          <a:latin typeface="Montserrat"/>
                          <a:ea typeface="Work Sans"/>
                          <a:cs typeface="Work Sans"/>
                        </a:rPr>
                        <a:t>04</a:t>
                      </a: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5D8DC"/>
                      </a:solidFill>
                      <a:prstDash val="soli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 b="1" i="0" lang="pt-BR">
                          <a:solidFill>
                            <a:srgbClr val="28282D"/>
                          </a:solidFill>
                          <a:latin typeface="Work Sans"/>
                          <a:ea typeface="Work Sans"/>
                          <a:cs typeface="Work Sans"/>
                        </a:rPr>
                        <a:t>Serviços especializados</a:t>
                      </a: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5D8DC"/>
                      </a:solidFill>
                      <a:prstDash val="soli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 b="0" i="0" lang="pt-BR">
                          <a:solidFill>
                            <a:srgbClr val="28282D"/>
                          </a:solidFill>
                          <a:latin typeface="Work Sans"/>
                          <a:ea typeface="Work Sans"/>
                          <a:cs typeface="Work Sans"/>
                        </a:rPr>
                        <a:t>método e capacidade de investigação</a:t>
                      </a: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5D8DC"/>
                      </a:solidFill>
                      <a:prstDash val="soli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</a:lnB>
                    <a:solidFill>
                      <a:srgbClr val="F7F5F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 b="1" i="0" lang="pt-BR">
                          <a:solidFill>
                            <a:srgbClr val="00539C"/>
                          </a:solidFill>
                          <a:latin typeface="Montserrat"/>
                          <a:ea typeface="Work Sans"/>
                          <a:cs typeface="Work Sans"/>
                        </a:rPr>
                        <a:t>05</a:t>
                      </a: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5D8DC"/>
                      </a:solidFill>
                      <a:prstDash val="soli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 b="1" i="0" lang="pt-BR">
                          <a:solidFill>
                            <a:srgbClr val="28282D"/>
                          </a:solidFill>
                          <a:latin typeface="Work Sans"/>
                          <a:ea typeface="Work Sans"/>
                          <a:cs typeface="Work Sans"/>
                        </a:rPr>
                        <a:t>Pesquisa aplicada</a:t>
                      </a: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5D8DC"/>
                      </a:solidFill>
                      <a:prstDash val="soli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 b="0" i="0" lang="pt-BR">
                          <a:solidFill>
                            <a:srgbClr val="28282D"/>
                          </a:solidFill>
                          <a:latin typeface="Work Sans"/>
                          <a:ea typeface="Work Sans"/>
                          <a:cs typeface="Work Sans"/>
                        </a:rPr>
                        <a:t>evolução contínua orientada por operação</a:t>
                      </a: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5D8DC"/>
                      </a:solidFill>
                      <a:prstDash val="soli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3" name="source"/>
          <p:cNvSpPr txBox="1"/>
          <p:nvPr/>
        </p:nvSpPr>
        <p:spPr>
          <a:xfrm>
            <a:off x="640080" y="6382512"/>
            <a:ext cx="7223760" cy="201168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marL="0" indent="0">
              <a:buNone/>
            </a:pPr>
            <a:r>
              <a:rPr sz="800" b="0" i="0" lang="pt-BR">
                <a:solidFill>
                  <a:srgbClr val="28282D"/>
                </a:solidFill>
                <a:latin typeface="Work Sans"/>
                <a:ea typeface="Work Sans"/>
                <a:cs typeface="Work Sans"/>
              </a:rPr>
              <a:t>Fonte: Hydroforce — integração de equipamentos, plataforma, aplicativo, serviços e pesquisa aplicada.</a:t>
            </a:r>
            <a:endParaRPr lang="pt-BR" sz="8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07040" y="6254496"/>
            <a:ext cx="13716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28282D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1" lang="pt-BR"/>
              <a:t>2</a:t>
            </a:fld>
            <a:endParaRPr lang="pt-BR"/>
          </a:p>
        </p:txBody>
      </p:sp>
      <p:sp>
        <p:nvSpPr>
          <p:cNvPr id="69" name="!!label"/>
          <p:cNvSpPr txBox="1"/>
          <p:nvPr/>
        </p:nvSpPr>
        <p:spPr>
          <a:xfrm>
            <a:off x="411480" y="292608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marL="0" indent="0">
              <a:buNone/>
            </a:pPr>
            <a:r>
              <a:rPr sz="1300" b="0" i="1" lang="pt-BR">
                <a:solidFill>
                  <a:srgbClr val="5B6B75"/>
                </a:solidFill>
                <a:latin typeface="Work Sans"/>
                <a:ea typeface="Work Sans"/>
                <a:cs typeface="Work Sans"/>
              </a:rPr>
              <a:t>Próximo passo</a:t>
            </a:r>
            <a:endParaRPr lang="pt-BR" sz="1300"/>
          </a:p>
        </p:txBody>
      </p:sp>
      <p:sp>
        <p:nvSpPr>
          <p:cNvPr id="70" name="!!title"/>
          <p:cNvSpPr txBox="1"/>
          <p:nvPr/>
        </p:nvSpPr>
        <p:spPr>
          <a:xfrm>
            <a:off x="411480" y="530352"/>
            <a:ext cx="11338560" cy="566928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marL="0" indent="0">
              <a:buNone/>
            </a:pPr>
            <a:r>
              <a:rPr sz="2500" b="1" i="0" lang="pt-BR">
                <a:solidFill>
                  <a:srgbClr val="28282D"/>
                </a:solidFill>
                <a:latin typeface="Montserrat"/>
                <a:ea typeface="Montserrat"/>
                <a:cs typeface="Montserrat"/>
              </a:rPr>
              <a:t>MAPEAR UMA OPERAÇÃO PRIORITÁRIA</a:t>
            </a:r>
            <a:endParaRPr lang="pt-BR" sz="2500"/>
          </a:p>
        </p:txBody>
      </p:sp>
      <p:sp>
        <p:nvSpPr>
          <p:cNvPr id="71" name="tag"/>
          <p:cNvSpPr txBox="1"/>
          <p:nvPr/>
        </p:nvSpPr>
        <p:spPr>
          <a:xfrm>
            <a:off x="411480" y="1417320"/>
            <a:ext cx="6766560" cy="457200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marL="0" indent="0">
              <a:buNone/>
            </a:pPr>
            <a:r>
              <a:rPr sz="1800" b="0" i="1" lang="pt-BR">
                <a:solidFill>
                  <a:srgbClr val="28282D"/>
                </a:solidFill>
                <a:latin typeface="Work Sans"/>
                <a:ea typeface="Work Sans"/>
                <a:cs typeface="Work Sans"/>
              </a:rPr>
              <a:t>Uma conversa técnica pode começar por três perguntas:</a:t>
            </a:r>
            <a:endParaRPr lang="pt-BR" sz="1800"/>
          </a:p>
        </p:txBody>
      </p:sp>
      <p:sp>
        <p:nvSpPr>
          <p:cNvPr id="72" name="q_n0_c"/>
          <p:cNvSpPr/>
          <p:nvPr/>
        </p:nvSpPr>
        <p:spPr>
          <a:xfrm>
            <a:off x="411480" y="2194560"/>
            <a:ext cx="603504" cy="603504"/>
          </a:xfrm>
          <a:prstGeom prst="ellipse">
            <a:avLst/>
          </a:prstGeom>
          <a:solidFill>
            <a:srgbClr val="00539C"/>
          </a:solidFill>
          <a:ln w="12700">
            <a:solidFill>
              <a:srgbClr val="00539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" name="q_n0_n"/>
          <p:cNvSpPr txBox="1"/>
          <p:nvPr/>
        </p:nvSpPr>
        <p:spPr>
          <a:xfrm>
            <a:off x="411480" y="2194560"/>
            <a:ext cx="603504" cy="603504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algn="ctr" marL="0" indent="0">
              <a:buNone/>
            </a:pPr>
            <a:r>
              <a:rPr sz="1800" b="1" i="0" lang="pt-BR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</a:t>
            </a:r>
            <a:endParaRPr lang="pt-BR" sz="1800"/>
          </a:p>
        </p:txBody>
      </p:sp>
      <p:sp>
        <p:nvSpPr>
          <p:cNvPr id="74" name="q_t0"/>
          <p:cNvSpPr txBox="1"/>
          <p:nvPr/>
        </p:nvSpPr>
        <p:spPr>
          <a:xfrm>
            <a:off x="1234440" y="2057400"/>
            <a:ext cx="5852160" cy="877824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sz="1600" b="0" i="0" lang="pt-BR">
                <a:solidFill>
                  <a:srgbClr val="28282D"/>
                </a:solidFill>
                <a:latin typeface="Work Sans"/>
                <a:ea typeface="Work Sans"/>
                <a:cs typeface="Work Sans"/>
              </a:rPr>
              <a:t>Onde estão as áreas com maior incerteza operacional?</a:t>
            </a:r>
            <a:endParaRPr lang="pt-BR" sz="1600"/>
          </a:p>
        </p:txBody>
      </p:sp>
      <p:sp>
        <p:nvSpPr>
          <p:cNvPr id="75" name="q_n1_c"/>
          <p:cNvSpPr/>
          <p:nvPr/>
        </p:nvSpPr>
        <p:spPr>
          <a:xfrm>
            <a:off x="411480" y="3337560"/>
            <a:ext cx="603504" cy="603504"/>
          </a:xfrm>
          <a:prstGeom prst="ellipse">
            <a:avLst/>
          </a:prstGeom>
          <a:solidFill>
            <a:srgbClr val="00539C"/>
          </a:solidFill>
          <a:ln w="12700">
            <a:solidFill>
              <a:srgbClr val="00539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" name="q_n1_n"/>
          <p:cNvSpPr txBox="1"/>
          <p:nvPr/>
        </p:nvSpPr>
        <p:spPr>
          <a:xfrm>
            <a:off x="411480" y="3337560"/>
            <a:ext cx="603504" cy="603504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algn="ctr" marL="0" indent="0">
              <a:buNone/>
            </a:pPr>
            <a:r>
              <a:rPr sz="1800" b="1" i="0" lang="pt-BR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2</a:t>
            </a:r>
            <a:endParaRPr lang="pt-BR" sz="1800"/>
          </a:p>
        </p:txBody>
      </p:sp>
      <p:sp>
        <p:nvSpPr>
          <p:cNvPr id="77" name="q_t1"/>
          <p:cNvSpPr txBox="1"/>
          <p:nvPr/>
        </p:nvSpPr>
        <p:spPr>
          <a:xfrm>
            <a:off x="1234440" y="3200400"/>
            <a:ext cx="5852160" cy="877824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sz="1600" b="0" i="0" lang="pt-BR">
                <a:solidFill>
                  <a:srgbClr val="28282D"/>
                </a:solidFill>
                <a:latin typeface="Work Sans"/>
                <a:ea typeface="Work Sans"/>
                <a:cs typeface="Work Sans"/>
              </a:rPr>
              <a:t>Quais sinais de pressão e ruído já existem — e como são usados?</a:t>
            </a:r>
            <a:endParaRPr lang="pt-BR" sz="1600"/>
          </a:p>
        </p:txBody>
      </p:sp>
      <p:sp>
        <p:nvSpPr>
          <p:cNvPr id="78" name="q_n2_c"/>
          <p:cNvSpPr/>
          <p:nvPr/>
        </p:nvSpPr>
        <p:spPr>
          <a:xfrm>
            <a:off x="411480" y="4480560"/>
            <a:ext cx="603504" cy="603504"/>
          </a:xfrm>
          <a:prstGeom prst="ellipse">
            <a:avLst/>
          </a:prstGeom>
          <a:solidFill>
            <a:srgbClr val="00539C"/>
          </a:solidFill>
          <a:ln w="12700">
            <a:solidFill>
              <a:srgbClr val="00539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" name="q_n2_n"/>
          <p:cNvSpPr txBox="1"/>
          <p:nvPr/>
        </p:nvSpPr>
        <p:spPr>
          <a:xfrm>
            <a:off x="411480" y="4480560"/>
            <a:ext cx="603504" cy="603504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algn="ctr" marL="0" indent="0">
              <a:buNone/>
            </a:pPr>
            <a:r>
              <a:rPr sz="1800" b="1" i="0" lang="pt-BR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3</a:t>
            </a:r>
            <a:endParaRPr lang="pt-BR" sz="1800"/>
          </a:p>
        </p:txBody>
      </p:sp>
      <p:sp>
        <p:nvSpPr>
          <p:cNvPr id="80" name="q_t2"/>
          <p:cNvSpPr txBox="1"/>
          <p:nvPr/>
        </p:nvSpPr>
        <p:spPr>
          <a:xfrm>
            <a:off x="1234440" y="4343400"/>
            <a:ext cx="5852160" cy="877824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sz="1600" b="0" i="0" lang="pt-BR">
                <a:solidFill>
                  <a:srgbClr val="28282D"/>
                </a:solidFill>
                <a:latin typeface="Work Sans"/>
                <a:ea typeface="Work Sans"/>
                <a:cs typeface="Work Sans"/>
              </a:rPr>
              <a:t>Como a operação fecha hoje o ciclo entre suspeita, reparo e validação?</a:t>
            </a:r>
            <a:endParaRPr lang="pt-BR" sz="1600"/>
          </a:p>
        </p:txBody>
      </p:sp>
      <p:sp>
        <p:nvSpPr>
          <p:cNvPr id="81" name="panel"/>
          <p:cNvSpPr/>
          <p:nvPr/>
        </p:nvSpPr>
        <p:spPr>
          <a:xfrm>
            <a:off x="7680960" y="1371600"/>
            <a:ext cx="4096512" cy="4434840"/>
          </a:xfrm>
          <a:prstGeom prst="rect">
            <a:avLst/>
          </a:prstGeom>
          <a:solidFill>
            <a:srgbClr val="D8E4EC"/>
          </a:solidFill>
          <a:ln w="12700">
            <a:solidFill>
              <a:srgbClr val="D8E4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" name="panel_ico_c"/>
          <p:cNvSpPr/>
          <p:nvPr/>
        </p:nvSpPr>
        <p:spPr>
          <a:xfrm>
            <a:off x="9317736" y="2651760"/>
            <a:ext cx="822960" cy="822960"/>
          </a:xfrm>
          <a:prstGeom prst="ellipse">
            <a:avLst/>
          </a:prstGeom>
          <a:solidFill>
            <a:srgbClr val="00539C"/>
          </a:solidFill>
          <a:ln w="12700">
            <a:solidFill>
              <a:srgbClr val="00539C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3" name="panel_ico_ic" descr="mess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5246" y="2849270"/>
            <a:ext cx="427939" cy="427939"/>
          </a:xfrm>
          <a:prstGeom prst="rect">
            <a:avLst/>
          </a:prstGeom>
        </p:spPr>
      </p:pic>
      <p:sp>
        <p:nvSpPr>
          <p:cNvPr id="84" name="panel_site"/>
          <p:cNvSpPr txBox="1"/>
          <p:nvPr/>
        </p:nvSpPr>
        <p:spPr>
          <a:xfrm>
            <a:off x="7863840" y="3703320"/>
            <a:ext cx="3730752" cy="411480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algn="ctr" marL="0" indent="0">
              <a:buNone/>
            </a:pPr>
            <a:r>
              <a:rPr sz="1800" b="1" i="0" lang="pt-BR">
                <a:solidFill>
                  <a:srgbClr val="28282D"/>
                </a:solidFill>
                <a:latin typeface="Montserrat"/>
                <a:ea typeface="Montserrat"/>
                <a:cs typeface="Montserrat"/>
              </a:rPr>
              <a:t>hydroforce.com.br</a:t>
            </a:r>
            <a:endParaRPr lang="pt-BR" sz="1800"/>
          </a:p>
        </p:txBody>
      </p:sp>
      <p:sp>
        <p:nvSpPr>
          <p:cNvPr id="85" name="panel_tag"/>
          <p:cNvSpPr txBox="1"/>
          <p:nvPr/>
        </p:nvSpPr>
        <p:spPr>
          <a:xfrm>
            <a:off x="7863840" y="4160520"/>
            <a:ext cx="3730752" cy="365760"/>
          </a:xfrm>
          <a:prstGeom prst="rect">
            <a:avLst/>
          </a:prstGeom>
          <a:noFill/>
        </p:spPr>
        <p:txBody>
          <a:bodyPr wrap="square" lIns="0" rIns="0" tIns="0" bIns="0" anchor="ctr" rtlCol="0">
            <a:spAutoFit/>
          </a:bodyPr>
          <a:lstStyle/>
          <a:p>
            <a:pPr algn="ctr" marL="0" indent="0">
              <a:buNone/>
            </a:pPr>
            <a:r>
              <a:rPr sz="1300" b="0" i="1" lang="pt-BR">
                <a:solidFill>
                  <a:srgbClr val="5B6B75"/>
                </a:solidFill>
                <a:latin typeface="Work Sans"/>
                <a:ea typeface="Work Sans"/>
                <a:cs typeface="Work Sans"/>
              </a:rPr>
              <a:t>Tecnologia  ·  operação  ·  inteligência</a:t>
            </a:r>
            <a:endParaRPr lang="pt-BR" sz="13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ydroforce Claro">
  <a:themeElements>
    <a:clrScheme name="Hydroforce Claro">
      <a:dk1>
        <a:srgbClr val="28282D"/>
      </a:dk1>
      <a:lt1>
        <a:srgbClr val="FFFFFF"/>
      </a:lt1>
      <a:dk2>
        <a:srgbClr val="0B2336"/>
      </a:dk2>
      <a:lt2>
        <a:srgbClr val="F2F0EB"/>
      </a:lt2>
      <a:accent1>
        <a:srgbClr val="00539C"/>
      </a:accent1>
      <a:accent2>
        <a:srgbClr val="3CADD4"/>
      </a:accent2>
      <a:accent3>
        <a:srgbClr val="18576C"/>
      </a:accent3>
      <a:accent4>
        <a:srgbClr val="9FB9C8"/>
      </a:accent4>
      <a:accent5>
        <a:srgbClr val="D8E4EC"/>
      </a:accent5>
      <a:accent6>
        <a:srgbClr val="5B6B75"/>
      </a:accent6>
      <a:hlink>
        <a:srgbClr val="00539C"/>
      </a:hlink>
      <a:folHlink>
        <a:srgbClr val="18576C"/>
      </a:folHlink>
    </a:clrScheme>
    <a:fontScheme name="Office">
      <a:majorFont>
        <a:latin typeface="Montserra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Work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Hydroforce — Template de Apresentação</dc:title>
  <dc:subject>PptxGenJS Presentation</dc:subject>
  <dc:creator>Hydroforce</dc:creator>
  <cp:lastModifiedBy>Hydroforce</cp:lastModifiedBy>
  <cp:revision>1</cp:revision>
  <dcterms:created xsi:type="dcterms:W3CDTF">2026-09-04T17:25:55Z</dcterms:created>
  <dcterms:modified xsi:type="dcterms:W3CDTF">2026-09-04T17:25:55Z</dcterms:modified>
</cp:coreProperties>
</file>